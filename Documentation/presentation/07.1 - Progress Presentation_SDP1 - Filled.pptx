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 bookmarkIdSeed="8">
  <p:sldMasterIdLst>
    <p:sldMasterId id="2147483648" r:id="rId1"/>
  </p:sldMasterIdLst>
  <p:notesMasterIdLst>
    <p:notesMasterId r:id="rId62"/>
  </p:notesMasterIdLst>
  <p:sldIdLst>
    <p:sldId id="256" r:id="rId2"/>
    <p:sldId id="287" r:id="rId3"/>
    <p:sldId id="258" r:id="rId4"/>
    <p:sldId id="259" r:id="rId5"/>
    <p:sldId id="289" r:id="rId6"/>
    <p:sldId id="319" r:id="rId7"/>
    <p:sldId id="261" r:id="rId8"/>
    <p:sldId id="290" r:id="rId9"/>
    <p:sldId id="320" r:id="rId10"/>
    <p:sldId id="279" r:id="rId11"/>
    <p:sldId id="305" r:id="rId12"/>
    <p:sldId id="306" r:id="rId13"/>
    <p:sldId id="321" r:id="rId14"/>
    <p:sldId id="307" r:id="rId15"/>
    <p:sldId id="327" r:id="rId16"/>
    <p:sldId id="291" r:id="rId17"/>
    <p:sldId id="292" r:id="rId18"/>
    <p:sldId id="309" r:id="rId19"/>
    <p:sldId id="264" r:id="rId20"/>
    <p:sldId id="265" r:id="rId21"/>
    <p:sldId id="295" r:id="rId22"/>
    <p:sldId id="293" r:id="rId23"/>
    <p:sldId id="294" r:id="rId24"/>
    <p:sldId id="322" r:id="rId25"/>
    <p:sldId id="266" r:id="rId26"/>
    <p:sldId id="267" r:id="rId27"/>
    <p:sldId id="296" r:id="rId28"/>
    <p:sldId id="323" r:id="rId29"/>
    <p:sldId id="268" r:id="rId30"/>
    <p:sldId id="310" r:id="rId31"/>
    <p:sldId id="298" r:id="rId32"/>
    <p:sldId id="311" r:id="rId33"/>
    <p:sldId id="299" r:id="rId34"/>
    <p:sldId id="312" r:id="rId35"/>
    <p:sldId id="300" r:id="rId36"/>
    <p:sldId id="313" r:id="rId37"/>
    <p:sldId id="301" r:id="rId38"/>
    <p:sldId id="314" r:id="rId39"/>
    <p:sldId id="315" r:id="rId40"/>
    <p:sldId id="302" r:id="rId41"/>
    <p:sldId id="316" r:id="rId42"/>
    <p:sldId id="269" r:id="rId43"/>
    <p:sldId id="303" r:id="rId44"/>
    <p:sldId id="304" r:id="rId45"/>
    <p:sldId id="270" r:id="rId46"/>
    <p:sldId id="271" r:id="rId47"/>
    <p:sldId id="272" r:id="rId48"/>
    <p:sldId id="278" r:id="rId49"/>
    <p:sldId id="308" r:id="rId50"/>
    <p:sldId id="281" r:id="rId51"/>
    <p:sldId id="274" r:id="rId52"/>
    <p:sldId id="275" r:id="rId53"/>
    <p:sldId id="276" r:id="rId54"/>
    <p:sldId id="317" r:id="rId55"/>
    <p:sldId id="318" r:id="rId56"/>
    <p:sldId id="324" r:id="rId57"/>
    <p:sldId id="325" r:id="rId58"/>
    <p:sldId id="326" r:id="rId59"/>
    <p:sldId id="277" r:id="rId60"/>
    <p:sldId id="297" r:id="rId61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3" roundtripDataSignature="AMtx7mgD4Kl0eymbPsSACaHDcTfhYrGFK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oon" initials="H" lastIdx="1" clrIdx="0">
    <p:extLst>
      <p:ext uri="{19B8F6BF-5375-455C-9EA6-DF929625EA0E}">
        <p15:presenceInfo xmlns:p15="http://schemas.microsoft.com/office/powerpoint/2012/main" userId="96814b1b378f490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93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customschemas.google.com/relationships/presentationmetadata" Target="meta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36EE18-E511-4CD4-BE03-21B81BB18EFA}" type="doc">
      <dgm:prSet loTypeId="urn:microsoft.com/office/officeart/2005/8/layout/list1" loCatId="list" qsTypeId="urn:microsoft.com/office/officeart/2005/8/quickstyle/simple5" qsCatId="simple" csTypeId="urn:microsoft.com/office/officeart/2005/8/colors/accent3_1" csCatId="accent3" phldr="1"/>
      <dgm:spPr/>
      <dgm:t>
        <a:bodyPr/>
        <a:lstStyle/>
        <a:p>
          <a:endParaRPr lang="en-PK"/>
        </a:p>
      </dgm:t>
    </dgm:pt>
    <dgm:pt modelId="{2D9D58D1-3E59-4F90-BE7B-3C519730E77A}">
      <dgm:prSet phldrT="[Text]"/>
      <dgm:spPr/>
      <dgm:t>
        <a:bodyPr/>
        <a:lstStyle/>
        <a:p>
          <a:pPr algn="ctr"/>
          <a:r>
            <a:rPr lang="en-US" dirty="0"/>
            <a:t>General Citizen</a:t>
          </a:r>
          <a:endParaRPr lang="en-PK" dirty="0"/>
        </a:p>
      </dgm:t>
    </dgm:pt>
    <dgm:pt modelId="{C9BEC6DF-0996-4046-B66C-77A86676A232}" type="parTrans" cxnId="{C5E57074-635E-4B58-983D-83A1D99B45EE}">
      <dgm:prSet/>
      <dgm:spPr/>
      <dgm:t>
        <a:bodyPr/>
        <a:lstStyle/>
        <a:p>
          <a:endParaRPr lang="en-PK"/>
        </a:p>
      </dgm:t>
    </dgm:pt>
    <dgm:pt modelId="{C3F94FB1-BA0D-4C28-BA37-A08186885D84}" type="sibTrans" cxnId="{C5E57074-635E-4B58-983D-83A1D99B45EE}">
      <dgm:prSet/>
      <dgm:spPr/>
      <dgm:t>
        <a:bodyPr/>
        <a:lstStyle/>
        <a:p>
          <a:endParaRPr lang="en-PK"/>
        </a:p>
      </dgm:t>
    </dgm:pt>
    <dgm:pt modelId="{2C8BDC7F-FB86-421E-AE6E-2380D02EDED1}">
      <dgm:prSet phldrT="[Text]"/>
      <dgm:spPr/>
      <dgm:t>
        <a:bodyPr/>
        <a:lstStyle/>
        <a:p>
          <a:pPr algn="ctr"/>
          <a:r>
            <a:rPr lang="en-US" dirty="0"/>
            <a:t>Lawyer</a:t>
          </a:r>
          <a:endParaRPr lang="en-PK" dirty="0"/>
        </a:p>
      </dgm:t>
    </dgm:pt>
    <dgm:pt modelId="{38F5F23C-8082-4251-8C74-C77FBD866B03}" type="parTrans" cxnId="{00F007C6-6D6B-4FFD-9951-BC60656ABE53}">
      <dgm:prSet/>
      <dgm:spPr/>
      <dgm:t>
        <a:bodyPr/>
        <a:lstStyle/>
        <a:p>
          <a:endParaRPr lang="en-PK"/>
        </a:p>
      </dgm:t>
    </dgm:pt>
    <dgm:pt modelId="{4EF5427E-31D1-43C6-AC6A-619EC066F363}" type="sibTrans" cxnId="{00F007C6-6D6B-4FFD-9951-BC60656ABE53}">
      <dgm:prSet/>
      <dgm:spPr/>
      <dgm:t>
        <a:bodyPr/>
        <a:lstStyle/>
        <a:p>
          <a:endParaRPr lang="en-PK"/>
        </a:p>
      </dgm:t>
    </dgm:pt>
    <dgm:pt modelId="{1094C7F5-A180-4CF2-AE1B-272F83907E4A}">
      <dgm:prSet phldrT="[Text]"/>
      <dgm:spPr/>
      <dgm:t>
        <a:bodyPr/>
        <a:lstStyle/>
        <a:p>
          <a:pPr algn="ctr"/>
          <a:r>
            <a:rPr lang="en-US" dirty="0"/>
            <a:t>Admin</a:t>
          </a:r>
          <a:endParaRPr lang="en-PK" dirty="0"/>
        </a:p>
      </dgm:t>
    </dgm:pt>
    <dgm:pt modelId="{DCE747A0-1481-4066-B93F-50C1BEF14F33}" type="parTrans" cxnId="{7EF16080-FD58-4697-80B1-21479EB215A5}">
      <dgm:prSet/>
      <dgm:spPr/>
      <dgm:t>
        <a:bodyPr/>
        <a:lstStyle/>
        <a:p>
          <a:endParaRPr lang="en-PK"/>
        </a:p>
      </dgm:t>
    </dgm:pt>
    <dgm:pt modelId="{9C06F159-EA94-47EE-84C2-4598227D4954}" type="sibTrans" cxnId="{7EF16080-FD58-4697-80B1-21479EB215A5}">
      <dgm:prSet/>
      <dgm:spPr/>
      <dgm:t>
        <a:bodyPr/>
        <a:lstStyle/>
        <a:p>
          <a:endParaRPr lang="en-PK"/>
        </a:p>
      </dgm:t>
    </dgm:pt>
    <dgm:pt modelId="{F311A65D-2DA3-41FB-944B-C72AFA1C778B}" type="pres">
      <dgm:prSet presAssocID="{1836EE18-E511-4CD4-BE03-21B81BB18EFA}" presName="linear" presStyleCnt="0">
        <dgm:presLayoutVars>
          <dgm:dir/>
          <dgm:animLvl val="lvl"/>
          <dgm:resizeHandles val="exact"/>
        </dgm:presLayoutVars>
      </dgm:prSet>
      <dgm:spPr/>
    </dgm:pt>
    <dgm:pt modelId="{6693BCEF-7AA6-487E-9EE6-C0B1CD1314DB}" type="pres">
      <dgm:prSet presAssocID="{2D9D58D1-3E59-4F90-BE7B-3C519730E77A}" presName="parentLin" presStyleCnt="0"/>
      <dgm:spPr/>
    </dgm:pt>
    <dgm:pt modelId="{9043D3CE-6888-4C5A-A6B2-90D5D0F2CBDD}" type="pres">
      <dgm:prSet presAssocID="{2D9D58D1-3E59-4F90-BE7B-3C519730E77A}" presName="parentLeftMargin" presStyleLbl="node1" presStyleIdx="0" presStyleCnt="3"/>
      <dgm:spPr/>
    </dgm:pt>
    <dgm:pt modelId="{D0BDEDE6-4F5B-450F-B67E-B9B0B2BCB7ED}" type="pres">
      <dgm:prSet presAssocID="{2D9D58D1-3E59-4F90-BE7B-3C519730E77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F8B4E01-46EF-4E80-A844-356C9DE2AA7C}" type="pres">
      <dgm:prSet presAssocID="{2D9D58D1-3E59-4F90-BE7B-3C519730E77A}" presName="negativeSpace" presStyleCnt="0"/>
      <dgm:spPr/>
    </dgm:pt>
    <dgm:pt modelId="{936C0D49-0C30-4CA0-AB60-70276AC5FC18}" type="pres">
      <dgm:prSet presAssocID="{2D9D58D1-3E59-4F90-BE7B-3C519730E77A}" presName="childText" presStyleLbl="conFgAcc1" presStyleIdx="0" presStyleCnt="3">
        <dgm:presLayoutVars>
          <dgm:bulletEnabled val="1"/>
        </dgm:presLayoutVars>
      </dgm:prSet>
      <dgm:spPr/>
    </dgm:pt>
    <dgm:pt modelId="{82832363-20A2-412F-9B0B-F2E783FDEBFA}" type="pres">
      <dgm:prSet presAssocID="{C3F94FB1-BA0D-4C28-BA37-A08186885D84}" presName="spaceBetweenRectangles" presStyleCnt="0"/>
      <dgm:spPr/>
    </dgm:pt>
    <dgm:pt modelId="{72761343-56DD-4445-B71A-5417F7F790F5}" type="pres">
      <dgm:prSet presAssocID="{2C8BDC7F-FB86-421E-AE6E-2380D02EDED1}" presName="parentLin" presStyleCnt="0"/>
      <dgm:spPr/>
    </dgm:pt>
    <dgm:pt modelId="{1290AB8D-804B-4A6D-A4D4-B5F8D0C37A98}" type="pres">
      <dgm:prSet presAssocID="{2C8BDC7F-FB86-421E-AE6E-2380D02EDED1}" presName="parentLeftMargin" presStyleLbl="node1" presStyleIdx="0" presStyleCnt="3"/>
      <dgm:spPr/>
    </dgm:pt>
    <dgm:pt modelId="{A9E969CB-F31B-496E-A216-F5A024E01B6E}" type="pres">
      <dgm:prSet presAssocID="{2C8BDC7F-FB86-421E-AE6E-2380D02EDED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AFF395-EE72-4B37-A467-CEA8D099B14F}" type="pres">
      <dgm:prSet presAssocID="{2C8BDC7F-FB86-421E-AE6E-2380D02EDED1}" presName="negativeSpace" presStyleCnt="0"/>
      <dgm:spPr/>
    </dgm:pt>
    <dgm:pt modelId="{8B2EF313-2858-442A-B976-4A7FD1EC72F4}" type="pres">
      <dgm:prSet presAssocID="{2C8BDC7F-FB86-421E-AE6E-2380D02EDED1}" presName="childText" presStyleLbl="conFgAcc1" presStyleIdx="1" presStyleCnt="3">
        <dgm:presLayoutVars>
          <dgm:bulletEnabled val="1"/>
        </dgm:presLayoutVars>
      </dgm:prSet>
      <dgm:spPr/>
    </dgm:pt>
    <dgm:pt modelId="{9427941A-2071-483E-9431-D83E9D1E278A}" type="pres">
      <dgm:prSet presAssocID="{4EF5427E-31D1-43C6-AC6A-619EC066F363}" presName="spaceBetweenRectangles" presStyleCnt="0"/>
      <dgm:spPr/>
    </dgm:pt>
    <dgm:pt modelId="{88B1E756-B195-42F7-9DC4-5C641D54AB98}" type="pres">
      <dgm:prSet presAssocID="{1094C7F5-A180-4CF2-AE1B-272F83907E4A}" presName="parentLin" presStyleCnt="0"/>
      <dgm:spPr/>
    </dgm:pt>
    <dgm:pt modelId="{30C8E383-AE62-4DC6-9E11-99F0BBBA2F49}" type="pres">
      <dgm:prSet presAssocID="{1094C7F5-A180-4CF2-AE1B-272F83907E4A}" presName="parentLeftMargin" presStyleLbl="node1" presStyleIdx="1" presStyleCnt="3"/>
      <dgm:spPr/>
    </dgm:pt>
    <dgm:pt modelId="{A318E23B-1454-4A7C-A2E3-DD7D9A758100}" type="pres">
      <dgm:prSet presAssocID="{1094C7F5-A180-4CF2-AE1B-272F83907E4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BF5E3E5-E426-4C98-B238-40100AE71DBB}" type="pres">
      <dgm:prSet presAssocID="{1094C7F5-A180-4CF2-AE1B-272F83907E4A}" presName="negativeSpace" presStyleCnt="0"/>
      <dgm:spPr/>
    </dgm:pt>
    <dgm:pt modelId="{BEAB6E02-CC3C-4765-B76B-619B6DC79714}" type="pres">
      <dgm:prSet presAssocID="{1094C7F5-A180-4CF2-AE1B-272F83907E4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2C4760E-F543-4450-ADE7-EBC4EA589EB7}" type="presOf" srcId="{2C8BDC7F-FB86-421E-AE6E-2380D02EDED1}" destId="{1290AB8D-804B-4A6D-A4D4-B5F8D0C37A98}" srcOrd="0" destOrd="0" presId="urn:microsoft.com/office/officeart/2005/8/layout/list1"/>
    <dgm:cxn modelId="{F3DE1639-0053-4644-B380-71A47F41461A}" type="presOf" srcId="{1094C7F5-A180-4CF2-AE1B-272F83907E4A}" destId="{30C8E383-AE62-4DC6-9E11-99F0BBBA2F49}" srcOrd="0" destOrd="0" presId="urn:microsoft.com/office/officeart/2005/8/layout/list1"/>
    <dgm:cxn modelId="{7928CD4A-081F-4D6E-AA36-E7BDC8159FC5}" type="presOf" srcId="{2D9D58D1-3E59-4F90-BE7B-3C519730E77A}" destId="{9043D3CE-6888-4C5A-A6B2-90D5D0F2CBDD}" srcOrd="0" destOrd="0" presId="urn:microsoft.com/office/officeart/2005/8/layout/list1"/>
    <dgm:cxn modelId="{C5E57074-635E-4B58-983D-83A1D99B45EE}" srcId="{1836EE18-E511-4CD4-BE03-21B81BB18EFA}" destId="{2D9D58D1-3E59-4F90-BE7B-3C519730E77A}" srcOrd="0" destOrd="0" parTransId="{C9BEC6DF-0996-4046-B66C-77A86676A232}" sibTransId="{C3F94FB1-BA0D-4C28-BA37-A08186885D84}"/>
    <dgm:cxn modelId="{7EF16080-FD58-4697-80B1-21479EB215A5}" srcId="{1836EE18-E511-4CD4-BE03-21B81BB18EFA}" destId="{1094C7F5-A180-4CF2-AE1B-272F83907E4A}" srcOrd="2" destOrd="0" parTransId="{DCE747A0-1481-4066-B93F-50C1BEF14F33}" sibTransId="{9C06F159-EA94-47EE-84C2-4598227D4954}"/>
    <dgm:cxn modelId="{2ABB9582-C829-43D6-AEBC-A35822432355}" type="presOf" srcId="{1836EE18-E511-4CD4-BE03-21B81BB18EFA}" destId="{F311A65D-2DA3-41FB-944B-C72AFA1C778B}" srcOrd="0" destOrd="0" presId="urn:microsoft.com/office/officeart/2005/8/layout/list1"/>
    <dgm:cxn modelId="{7D2B7384-4585-4768-810E-FF97F177038D}" type="presOf" srcId="{1094C7F5-A180-4CF2-AE1B-272F83907E4A}" destId="{A318E23B-1454-4A7C-A2E3-DD7D9A758100}" srcOrd="1" destOrd="0" presId="urn:microsoft.com/office/officeart/2005/8/layout/list1"/>
    <dgm:cxn modelId="{E0384EAA-0AEC-4C0E-9434-8962ACC0CD9B}" type="presOf" srcId="{2D9D58D1-3E59-4F90-BE7B-3C519730E77A}" destId="{D0BDEDE6-4F5B-450F-B67E-B9B0B2BCB7ED}" srcOrd="1" destOrd="0" presId="urn:microsoft.com/office/officeart/2005/8/layout/list1"/>
    <dgm:cxn modelId="{00F007C6-6D6B-4FFD-9951-BC60656ABE53}" srcId="{1836EE18-E511-4CD4-BE03-21B81BB18EFA}" destId="{2C8BDC7F-FB86-421E-AE6E-2380D02EDED1}" srcOrd="1" destOrd="0" parTransId="{38F5F23C-8082-4251-8C74-C77FBD866B03}" sibTransId="{4EF5427E-31D1-43C6-AC6A-619EC066F363}"/>
    <dgm:cxn modelId="{4D9A35EE-3498-4765-9F05-DCD54EB0859C}" type="presOf" srcId="{2C8BDC7F-FB86-421E-AE6E-2380D02EDED1}" destId="{A9E969CB-F31B-496E-A216-F5A024E01B6E}" srcOrd="1" destOrd="0" presId="urn:microsoft.com/office/officeart/2005/8/layout/list1"/>
    <dgm:cxn modelId="{27CC4B02-C644-4E62-905C-C6AF3363F4CB}" type="presParOf" srcId="{F311A65D-2DA3-41FB-944B-C72AFA1C778B}" destId="{6693BCEF-7AA6-487E-9EE6-C0B1CD1314DB}" srcOrd="0" destOrd="0" presId="urn:microsoft.com/office/officeart/2005/8/layout/list1"/>
    <dgm:cxn modelId="{1CC00741-04D6-4785-B1EC-58D6B39847C5}" type="presParOf" srcId="{6693BCEF-7AA6-487E-9EE6-C0B1CD1314DB}" destId="{9043D3CE-6888-4C5A-A6B2-90D5D0F2CBDD}" srcOrd="0" destOrd="0" presId="urn:microsoft.com/office/officeart/2005/8/layout/list1"/>
    <dgm:cxn modelId="{0D2E7690-A4FB-4228-B3D4-B4A4B9AC5DE7}" type="presParOf" srcId="{6693BCEF-7AA6-487E-9EE6-C0B1CD1314DB}" destId="{D0BDEDE6-4F5B-450F-B67E-B9B0B2BCB7ED}" srcOrd="1" destOrd="0" presId="urn:microsoft.com/office/officeart/2005/8/layout/list1"/>
    <dgm:cxn modelId="{03016841-6BE5-4E40-A016-D7944A0CBE4D}" type="presParOf" srcId="{F311A65D-2DA3-41FB-944B-C72AFA1C778B}" destId="{1F8B4E01-46EF-4E80-A844-356C9DE2AA7C}" srcOrd="1" destOrd="0" presId="urn:microsoft.com/office/officeart/2005/8/layout/list1"/>
    <dgm:cxn modelId="{EE49536B-CDAB-4B44-8D2F-FCA2C1585262}" type="presParOf" srcId="{F311A65D-2DA3-41FB-944B-C72AFA1C778B}" destId="{936C0D49-0C30-4CA0-AB60-70276AC5FC18}" srcOrd="2" destOrd="0" presId="urn:microsoft.com/office/officeart/2005/8/layout/list1"/>
    <dgm:cxn modelId="{E44977AC-D5D6-4B9F-BCD1-FA69607F226E}" type="presParOf" srcId="{F311A65D-2DA3-41FB-944B-C72AFA1C778B}" destId="{82832363-20A2-412F-9B0B-F2E783FDEBFA}" srcOrd="3" destOrd="0" presId="urn:microsoft.com/office/officeart/2005/8/layout/list1"/>
    <dgm:cxn modelId="{4CA5038E-9FA9-438C-BB3C-E8123BE0F5D0}" type="presParOf" srcId="{F311A65D-2DA3-41FB-944B-C72AFA1C778B}" destId="{72761343-56DD-4445-B71A-5417F7F790F5}" srcOrd="4" destOrd="0" presId="urn:microsoft.com/office/officeart/2005/8/layout/list1"/>
    <dgm:cxn modelId="{F07973D8-EEA3-4B92-9DF6-59FF557B9B68}" type="presParOf" srcId="{72761343-56DD-4445-B71A-5417F7F790F5}" destId="{1290AB8D-804B-4A6D-A4D4-B5F8D0C37A98}" srcOrd="0" destOrd="0" presId="urn:microsoft.com/office/officeart/2005/8/layout/list1"/>
    <dgm:cxn modelId="{DC7D89D1-4F16-4F99-A505-5FF0394B90B9}" type="presParOf" srcId="{72761343-56DD-4445-B71A-5417F7F790F5}" destId="{A9E969CB-F31B-496E-A216-F5A024E01B6E}" srcOrd="1" destOrd="0" presId="urn:microsoft.com/office/officeart/2005/8/layout/list1"/>
    <dgm:cxn modelId="{A36A0ED0-5F5A-467F-B6DD-541C553ED56F}" type="presParOf" srcId="{F311A65D-2DA3-41FB-944B-C72AFA1C778B}" destId="{D1AFF395-EE72-4B37-A467-CEA8D099B14F}" srcOrd="5" destOrd="0" presId="urn:microsoft.com/office/officeart/2005/8/layout/list1"/>
    <dgm:cxn modelId="{5F46F2E3-3EEA-4300-9710-E21B5988E0A6}" type="presParOf" srcId="{F311A65D-2DA3-41FB-944B-C72AFA1C778B}" destId="{8B2EF313-2858-442A-B976-4A7FD1EC72F4}" srcOrd="6" destOrd="0" presId="urn:microsoft.com/office/officeart/2005/8/layout/list1"/>
    <dgm:cxn modelId="{2709C952-51A0-47A2-B63D-B03C7CD3580F}" type="presParOf" srcId="{F311A65D-2DA3-41FB-944B-C72AFA1C778B}" destId="{9427941A-2071-483E-9431-D83E9D1E278A}" srcOrd="7" destOrd="0" presId="urn:microsoft.com/office/officeart/2005/8/layout/list1"/>
    <dgm:cxn modelId="{79F3808C-E038-4F15-A028-DBE5A1C27097}" type="presParOf" srcId="{F311A65D-2DA3-41FB-944B-C72AFA1C778B}" destId="{88B1E756-B195-42F7-9DC4-5C641D54AB98}" srcOrd="8" destOrd="0" presId="urn:microsoft.com/office/officeart/2005/8/layout/list1"/>
    <dgm:cxn modelId="{92E2430C-9D24-45F5-B456-4CA440F49CB8}" type="presParOf" srcId="{88B1E756-B195-42F7-9DC4-5C641D54AB98}" destId="{30C8E383-AE62-4DC6-9E11-99F0BBBA2F49}" srcOrd="0" destOrd="0" presId="urn:microsoft.com/office/officeart/2005/8/layout/list1"/>
    <dgm:cxn modelId="{9C8C701B-687E-4F13-9BB6-02DDC59963E3}" type="presParOf" srcId="{88B1E756-B195-42F7-9DC4-5C641D54AB98}" destId="{A318E23B-1454-4A7C-A2E3-DD7D9A758100}" srcOrd="1" destOrd="0" presId="urn:microsoft.com/office/officeart/2005/8/layout/list1"/>
    <dgm:cxn modelId="{6A167BB9-BCA6-407E-8A22-3F5A753E0CFA}" type="presParOf" srcId="{F311A65D-2DA3-41FB-944B-C72AFA1C778B}" destId="{FBF5E3E5-E426-4C98-B238-40100AE71DBB}" srcOrd="9" destOrd="0" presId="urn:microsoft.com/office/officeart/2005/8/layout/list1"/>
    <dgm:cxn modelId="{A4D79133-F8A7-4C99-8EC8-83F55680DB4F}" type="presParOf" srcId="{F311A65D-2DA3-41FB-944B-C72AFA1C778B}" destId="{BEAB6E02-CC3C-4765-B76B-619B6DC7971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5CBEF2-1FF6-4E38-82DD-2572B60BC18B}" type="doc">
      <dgm:prSet loTypeId="urn:microsoft.com/office/officeart/2005/8/layout/lProcess3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PK"/>
        </a:p>
      </dgm:t>
    </dgm:pt>
    <dgm:pt modelId="{65B14A5D-ED44-4A64-9F41-8311CE47258E}">
      <dgm:prSet phldrT="[Text]" custT="1"/>
      <dgm:spPr/>
      <dgm:t>
        <a:bodyPr/>
        <a:lstStyle/>
        <a:p>
          <a:r>
            <a:rPr lang="en-US" sz="3200" dirty="0"/>
            <a:t>Sep-Nov</a:t>
          </a:r>
          <a:endParaRPr lang="en-PK" sz="3200" dirty="0"/>
        </a:p>
      </dgm:t>
    </dgm:pt>
    <dgm:pt modelId="{DD87FBA9-562F-4C59-B9EE-264D3A8B2D3B}" type="parTrans" cxnId="{52B2B5E2-7BA7-42CA-A284-61B5D635590C}">
      <dgm:prSet/>
      <dgm:spPr/>
      <dgm:t>
        <a:bodyPr/>
        <a:lstStyle/>
        <a:p>
          <a:endParaRPr lang="en-PK" sz="2000"/>
        </a:p>
      </dgm:t>
    </dgm:pt>
    <dgm:pt modelId="{D09FDAFE-3368-4FD2-A4FD-EFFB9D9A1F32}" type="sibTrans" cxnId="{52B2B5E2-7BA7-42CA-A284-61B5D635590C}">
      <dgm:prSet/>
      <dgm:spPr/>
      <dgm:t>
        <a:bodyPr/>
        <a:lstStyle/>
        <a:p>
          <a:endParaRPr lang="en-PK" sz="2000"/>
        </a:p>
      </dgm:t>
    </dgm:pt>
    <dgm:pt modelId="{B8787DD1-F683-40AE-8A42-17F228BBB7B7}">
      <dgm:prSet phldrT="[Text]" custT="1"/>
      <dgm:spPr/>
      <dgm:t>
        <a:bodyPr/>
        <a:lstStyle/>
        <a:p>
          <a:r>
            <a:rPr lang="en-US" sz="1100" dirty="0">
              <a:latin typeface="Lato"/>
              <a:ea typeface="Lato"/>
              <a:cs typeface="Lato"/>
              <a:sym typeface="Lato"/>
            </a:rPr>
            <a:t>Frontend &amp; User Experience</a:t>
          </a:r>
          <a:endParaRPr lang="en-PK" sz="1100" dirty="0"/>
        </a:p>
      </dgm:t>
    </dgm:pt>
    <dgm:pt modelId="{8C8D37D3-9C5D-4F75-ACF0-FB394CE02E3B}" type="parTrans" cxnId="{F029E399-5041-4B0F-AFBB-3155569CBA3E}">
      <dgm:prSet/>
      <dgm:spPr/>
      <dgm:t>
        <a:bodyPr/>
        <a:lstStyle/>
        <a:p>
          <a:endParaRPr lang="en-PK" sz="2000"/>
        </a:p>
      </dgm:t>
    </dgm:pt>
    <dgm:pt modelId="{97831F35-1A29-4264-8B1E-D6E977D264FF}" type="sibTrans" cxnId="{F029E399-5041-4B0F-AFBB-3155569CBA3E}">
      <dgm:prSet/>
      <dgm:spPr/>
      <dgm:t>
        <a:bodyPr/>
        <a:lstStyle/>
        <a:p>
          <a:endParaRPr lang="en-PK" sz="2000"/>
        </a:p>
      </dgm:t>
    </dgm:pt>
    <dgm:pt modelId="{D995B0C2-1C6E-4146-947E-2868BFA0DD52}">
      <dgm:prSet phldrT="[Text]" custT="1"/>
      <dgm:spPr/>
      <dgm:t>
        <a:bodyPr/>
        <a:lstStyle/>
        <a:p>
          <a:r>
            <a:rPr lang="en-US" sz="11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Query Classification + RAG Setup </a:t>
          </a:r>
          <a:endParaRPr lang="en-PK" sz="1100" dirty="0"/>
        </a:p>
      </dgm:t>
    </dgm:pt>
    <dgm:pt modelId="{4CA01599-14FF-46C4-8B49-C97F6E9C4608}" type="parTrans" cxnId="{8C1EEEFE-DF2E-40F8-8AE0-5476ADF97F7E}">
      <dgm:prSet/>
      <dgm:spPr/>
      <dgm:t>
        <a:bodyPr/>
        <a:lstStyle/>
        <a:p>
          <a:endParaRPr lang="en-PK" sz="2000"/>
        </a:p>
      </dgm:t>
    </dgm:pt>
    <dgm:pt modelId="{B6174A47-FE31-4D95-8213-C21D040EBBDE}" type="sibTrans" cxnId="{8C1EEEFE-DF2E-40F8-8AE0-5476ADF97F7E}">
      <dgm:prSet/>
      <dgm:spPr/>
      <dgm:t>
        <a:bodyPr/>
        <a:lstStyle/>
        <a:p>
          <a:endParaRPr lang="en-PK" sz="2000"/>
        </a:p>
      </dgm:t>
    </dgm:pt>
    <dgm:pt modelId="{D3CE6AD1-14E1-44FC-A208-2FB07081D6F8}">
      <dgm:prSet phldrT="[Text]" custT="1"/>
      <dgm:spPr/>
      <dgm:t>
        <a:bodyPr/>
        <a:lstStyle/>
        <a:p>
          <a:r>
            <a:rPr lang="en-US" sz="3200" dirty="0"/>
            <a:t>Dec-Feb</a:t>
          </a:r>
          <a:endParaRPr lang="en-PK" sz="3200" dirty="0"/>
        </a:p>
      </dgm:t>
    </dgm:pt>
    <dgm:pt modelId="{D21AA3BD-1030-477B-B38E-320AAE191B9C}" type="parTrans" cxnId="{CDB12FCC-1395-4CA6-A65D-3134E274861C}">
      <dgm:prSet/>
      <dgm:spPr/>
      <dgm:t>
        <a:bodyPr/>
        <a:lstStyle/>
        <a:p>
          <a:endParaRPr lang="en-PK" sz="2000"/>
        </a:p>
      </dgm:t>
    </dgm:pt>
    <dgm:pt modelId="{95CAEC2B-C0DE-4ADC-9B32-72357E840ABB}" type="sibTrans" cxnId="{CDB12FCC-1395-4CA6-A65D-3134E274861C}">
      <dgm:prSet/>
      <dgm:spPr/>
      <dgm:t>
        <a:bodyPr/>
        <a:lstStyle/>
        <a:p>
          <a:endParaRPr lang="en-PK" sz="2000"/>
        </a:p>
      </dgm:t>
    </dgm:pt>
    <dgm:pt modelId="{D4077DC1-C6EA-49D0-A4D7-9E16FB9606B1}">
      <dgm:prSet phldrT="[Text]" custT="1"/>
      <dgm:spPr/>
      <dgm:t>
        <a:bodyPr/>
        <a:lstStyle/>
        <a:p>
          <a:r>
            <a:rPr lang="en-US" sz="11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Legal Knowledge Base (simplified laws</a:t>
          </a:r>
          <a:endParaRPr lang="en-PK" sz="1100" dirty="0"/>
        </a:p>
      </dgm:t>
    </dgm:pt>
    <dgm:pt modelId="{C2CB86DD-965E-4A51-8294-FB5997D06F67}" type="parTrans" cxnId="{E2B8675D-93BE-4855-93FC-65317A959446}">
      <dgm:prSet/>
      <dgm:spPr/>
      <dgm:t>
        <a:bodyPr/>
        <a:lstStyle/>
        <a:p>
          <a:endParaRPr lang="en-PK" sz="2000"/>
        </a:p>
      </dgm:t>
    </dgm:pt>
    <dgm:pt modelId="{95C323C6-E323-4473-8010-5655E3AD3B55}" type="sibTrans" cxnId="{E2B8675D-93BE-4855-93FC-65317A959446}">
      <dgm:prSet/>
      <dgm:spPr/>
      <dgm:t>
        <a:bodyPr/>
        <a:lstStyle/>
        <a:p>
          <a:endParaRPr lang="en-PK" sz="2000"/>
        </a:p>
      </dgm:t>
    </dgm:pt>
    <dgm:pt modelId="{4E179D25-8A31-4721-9EA5-8DB759154C77}">
      <dgm:prSet phldrT="[Text]" custT="1"/>
      <dgm:spPr/>
      <dgm:t>
        <a:bodyPr/>
        <a:lstStyle/>
        <a:p>
          <a:r>
            <a:rPr lang="en-US" sz="11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OCR Integration &amp; Testing Module</a:t>
          </a:r>
          <a:endParaRPr lang="en-PK" sz="1100" dirty="0"/>
        </a:p>
      </dgm:t>
    </dgm:pt>
    <dgm:pt modelId="{BFB09998-4966-4AB9-AA97-CC87583BE536}" type="parTrans" cxnId="{174B39CA-3D5F-42B1-9859-D98CE7234BD0}">
      <dgm:prSet/>
      <dgm:spPr/>
      <dgm:t>
        <a:bodyPr/>
        <a:lstStyle/>
        <a:p>
          <a:endParaRPr lang="en-PK" sz="2000"/>
        </a:p>
      </dgm:t>
    </dgm:pt>
    <dgm:pt modelId="{29606CE0-B504-4B07-BE83-BD8FE4E66784}" type="sibTrans" cxnId="{174B39CA-3D5F-42B1-9859-D98CE7234BD0}">
      <dgm:prSet/>
      <dgm:spPr/>
      <dgm:t>
        <a:bodyPr/>
        <a:lstStyle/>
        <a:p>
          <a:endParaRPr lang="en-PK" sz="2000"/>
        </a:p>
      </dgm:t>
    </dgm:pt>
    <dgm:pt modelId="{B9FE45EF-7A6A-498C-93AD-CE329F6FF01F}">
      <dgm:prSet phldrT="[Text]" custT="1"/>
      <dgm:spPr/>
      <dgm:t>
        <a:bodyPr/>
        <a:lstStyle/>
        <a:p>
          <a:r>
            <a:rPr lang="en-US" sz="3200" dirty="0"/>
            <a:t>Mar-Apr</a:t>
          </a:r>
          <a:endParaRPr lang="en-PK" sz="3200" dirty="0"/>
        </a:p>
      </dgm:t>
    </dgm:pt>
    <dgm:pt modelId="{90DD1936-8CEC-4397-B6E1-674FE1812BF0}" type="parTrans" cxnId="{4A0389C1-8950-409C-9CFA-15C63C2412FA}">
      <dgm:prSet/>
      <dgm:spPr/>
      <dgm:t>
        <a:bodyPr/>
        <a:lstStyle/>
        <a:p>
          <a:endParaRPr lang="en-PK" sz="2000"/>
        </a:p>
      </dgm:t>
    </dgm:pt>
    <dgm:pt modelId="{ED05F376-98FE-4D88-B825-BE8B5CAF2835}" type="sibTrans" cxnId="{4A0389C1-8950-409C-9CFA-15C63C2412FA}">
      <dgm:prSet/>
      <dgm:spPr/>
      <dgm:t>
        <a:bodyPr/>
        <a:lstStyle/>
        <a:p>
          <a:endParaRPr lang="en-PK" sz="2000"/>
        </a:p>
      </dgm:t>
    </dgm:pt>
    <dgm:pt modelId="{D68D38F8-CD38-4336-BF63-753F1F35E462}">
      <dgm:prSet phldrT="[Text]" custT="1"/>
      <dgm:spPr/>
      <dgm:t>
        <a:bodyPr/>
        <a:lstStyle/>
        <a:p>
          <a:r>
            <a:rPr lang="en-US" sz="11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Automated Document Generator (UI + flow)</a:t>
          </a:r>
          <a:endParaRPr lang="en-PK" sz="1100" dirty="0"/>
        </a:p>
      </dgm:t>
    </dgm:pt>
    <dgm:pt modelId="{CF6CBCFB-C4CB-4A28-9967-C17C2D7FCDCB}" type="parTrans" cxnId="{67C5A1E8-2A07-47E1-9F44-09B77F57D581}">
      <dgm:prSet/>
      <dgm:spPr/>
      <dgm:t>
        <a:bodyPr/>
        <a:lstStyle/>
        <a:p>
          <a:endParaRPr lang="en-PK" sz="2000"/>
        </a:p>
      </dgm:t>
    </dgm:pt>
    <dgm:pt modelId="{C3D01B67-26E2-4459-9B0B-CBDED9BC9B01}" type="sibTrans" cxnId="{67C5A1E8-2A07-47E1-9F44-09B77F57D581}">
      <dgm:prSet/>
      <dgm:spPr/>
      <dgm:t>
        <a:bodyPr/>
        <a:lstStyle/>
        <a:p>
          <a:endParaRPr lang="en-PK" sz="2000"/>
        </a:p>
      </dgm:t>
    </dgm:pt>
    <dgm:pt modelId="{42B23D56-8552-4025-A15D-DDA73B2BAD12}">
      <dgm:prSet phldrT="[Text]" custT="1"/>
      <dgm:spPr/>
      <dgm:t>
        <a:bodyPr/>
        <a:lstStyle/>
        <a:p>
          <a:r>
            <a:rPr lang="en-US" sz="11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Backend Optimizations + Data Security Module</a:t>
          </a:r>
          <a:endParaRPr lang="en-PK" sz="1100" dirty="0"/>
        </a:p>
      </dgm:t>
    </dgm:pt>
    <dgm:pt modelId="{325AB3D4-22E3-4B8C-825F-93D1FA1F8BDC}" type="parTrans" cxnId="{D4704D97-2229-42C3-881D-FCDDDB1C5F69}">
      <dgm:prSet/>
      <dgm:spPr/>
      <dgm:t>
        <a:bodyPr/>
        <a:lstStyle/>
        <a:p>
          <a:endParaRPr lang="en-PK" sz="2000"/>
        </a:p>
      </dgm:t>
    </dgm:pt>
    <dgm:pt modelId="{DBB1D060-D296-4647-A6FC-581CA57E0C0E}" type="sibTrans" cxnId="{D4704D97-2229-42C3-881D-FCDDDB1C5F69}">
      <dgm:prSet/>
      <dgm:spPr/>
      <dgm:t>
        <a:bodyPr/>
        <a:lstStyle/>
        <a:p>
          <a:endParaRPr lang="en-PK" sz="2000"/>
        </a:p>
      </dgm:t>
    </dgm:pt>
    <dgm:pt modelId="{67F136FF-548D-465D-A091-DFFA4114477A}">
      <dgm:prSet custT="1"/>
      <dgm:spPr/>
      <dgm:t>
        <a:bodyPr/>
        <a:lstStyle/>
        <a:p>
          <a:r>
            <a:rPr lang="en-US" sz="11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Admin Dashboard </a:t>
          </a:r>
          <a:r>
            <a:rPr lang="en-US" sz="1100" u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Implementation</a:t>
          </a:r>
          <a:endParaRPr lang="en-PK" sz="1100" u="none" dirty="0"/>
        </a:p>
      </dgm:t>
    </dgm:pt>
    <dgm:pt modelId="{D35FD56A-324B-4F82-B6D3-9E9ABFDA59BA}" type="parTrans" cxnId="{1579AF54-1C90-425A-93FF-97EC5551A898}">
      <dgm:prSet/>
      <dgm:spPr/>
      <dgm:t>
        <a:bodyPr/>
        <a:lstStyle/>
        <a:p>
          <a:endParaRPr lang="en-PK" sz="2000"/>
        </a:p>
      </dgm:t>
    </dgm:pt>
    <dgm:pt modelId="{5A906C7D-CD26-416B-B658-952CECCEBDCB}" type="sibTrans" cxnId="{1579AF54-1C90-425A-93FF-97EC5551A898}">
      <dgm:prSet/>
      <dgm:spPr/>
      <dgm:t>
        <a:bodyPr/>
        <a:lstStyle/>
        <a:p>
          <a:endParaRPr lang="en-PK" sz="2000"/>
        </a:p>
      </dgm:t>
    </dgm:pt>
    <dgm:pt modelId="{94D67D4C-C36B-429D-851D-CF64ED7A8F6D}">
      <dgm:prSet custT="1"/>
      <dgm:spPr/>
      <dgm:t>
        <a:bodyPr/>
        <a:lstStyle/>
        <a:p>
          <a:r>
            <a:rPr lang="en-US" sz="1050" u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AI Chatbot Urdu/English </a:t>
          </a:r>
        </a:p>
      </dgm:t>
    </dgm:pt>
    <dgm:pt modelId="{0E7D2D57-B078-4EA3-90ED-4FE6756A9B20}" type="parTrans" cxnId="{EC81605A-E099-4D78-B518-14DFA6057062}">
      <dgm:prSet/>
      <dgm:spPr/>
      <dgm:t>
        <a:bodyPr/>
        <a:lstStyle/>
        <a:p>
          <a:endParaRPr lang="en-PK" sz="2000"/>
        </a:p>
      </dgm:t>
    </dgm:pt>
    <dgm:pt modelId="{C96C9F55-AAC2-4702-91CD-8687ACF5A48F}" type="sibTrans" cxnId="{EC81605A-E099-4D78-B518-14DFA6057062}">
      <dgm:prSet/>
      <dgm:spPr/>
      <dgm:t>
        <a:bodyPr/>
        <a:lstStyle/>
        <a:p>
          <a:endParaRPr lang="en-PK" sz="2000"/>
        </a:p>
      </dgm:t>
    </dgm:pt>
    <dgm:pt modelId="{EC3E7F52-5842-40E2-BC77-C9F880160D29}">
      <dgm:prSet custT="1"/>
      <dgm:spPr/>
      <dgm:t>
        <a:bodyPr/>
        <a:lstStyle/>
        <a:p>
          <a:r>
            <a:rPr lang="en-US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Voice Input/Output &amp; Notifications System</a:t>
          </a:r>
          <a:endParaRPr lang="en-US" sz="1100" dirty="0">
            <a:solidFill>
              <a:srgbClr val="000000"/>
            </a:solidFill>
            <a:latin typeface="Lato"/>
            <a:ea typeface="Lato"/>
            <a:cs typeface="Lato"/>
            <a:sym typeface="Lato"/>
          </a:endParaRPr>
        </a:p>
      </dgm:t>
    </dgm:pt>
    <dgm:pt modelId="{35E70073-5896-486C-B0E0-96BFC0489E2C}" type="parTrans" cxnId="{FE3701CE-AECC-451D-8C7E-E70417F197ED}">
      <dgm:prSet/>
      <dgm:spPr/>
      <dgm:t>
        <a:bodyPr/>
        <a:lstStyle/>
        <a:p>
          <a:endParaRPr lang="en-PK" sz="2000"/>
        </a:p>
      </dgm:t>
    </dgm:pt>
    <dgm:pt modelId="{1C689E5F-3261-464A-8F6B-36F0E78741E6}" type="sibTrans" cxnId="{FE3701CE-AECC-451D-8C7E-E70417F197ED}">
      <dgm:prSet/>
      <dgm:spPr/>
      <dgm:t>
        <a:bodyPr/>
        <a:lstStyle/>
        <a:p>
          <a:endParaRPr lang="en-PK" sz="2000"/>
        </a:p>
      </dgm:t>
    </dgm:pt>
    <dgm:pt modelId="{A7D9FFF2-B373-4D2D-8F85-659920BDF9B7}">
      <dgm:prSet phldrT="[Text]" custT="1"/>
      <dgm:spPr/>
      <dgm:t>
        <a:bodyPr/>
        <a:lstStyle/>
        <a:p>
          <a:r>
            <a:rPr lang="en-US" sz="2800" dirty="0"/>
            <a:t>May-Jun</a:t>
          </a:r>
          <a:endParaRPr lang="en-PK" sz="3200" u="none" dirty="0"/>
        </a:p>
      </dgm:t>
    </dgm:pt>
    <dgm:pt modelId="{CF16325E-CB3F-4DA7-B6E3-1E6F7FA5E027}" type="parTrans" cxnId="{8558B179-1A13-4312-A6B9-9B589EB9F793}">
      <dgm:prSet/>
      <dgm:spPr/>
      <dgm:t>
        <a:bodyPr/>
        <a:lstStyle/>
        <a:p>
          <a:endParaRPr lang="en-PK" sz="2000"/>
        </a:p>
      </dgm:t>
    </dgm:pt>
    <dgm:pt modelId="{A3708738-A306-4AB6-A5B7-8B2D9DAA2A4D}" type="sibTrans" cxnId="{8558B179-1A13-4312-A6B9-9B589EB9F793}">
      <dgm:prSet/>
      <dgm:spPr/>
      <dgm:t>
        <a:bodyPr/>
        <a:lstStyle/>
        <a:p>
          <a:endParaRPr lang="en-PK" sz="2000"/>
        </a:p>
      </dgm:t>
    </dgm:pt>
    <dgm:pt modelId="{9A3747CC-9E86-4FA8-A927-B047A974C0F3}">
      <dgm:prSet phldrT="[Text]" custT="1"/>
      <dgm:spPr/>
      <dgm:t>
        <a:bodyPr/>
        <a:lstStyle/>
        <a:p>
          <a:r>
            <a:rPr lang="en-US" sz="11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Frontend Enhancements &amp; User Profile Management</a:t>
          </a:r>
          <a:endParaRPr lang="en-PK" sz="1100" dirty="0"/>
        </a:p>
      </dgm:t>
    </dgm:pt>
    <dgm:pt modelId="{E58F060E-5036-45AD-AFDF-C3D1B1A580A6}" type="parTrans" cxnId="{577E7D8F-EABE-478F-8EEC-2A6F17AC818F}">
      <dgm:prSet/>
      <dgm:spPr/>
      <dgm:t>
        <a:bodyPr/>
        <a:lstStyle/>
        <a:p>
          <a:endParaRPr lang="en-PK" sz="2000"/>
        </a:p>
      </dgm:t>
    </dgm:pt>
    <dgm:pt modelId="{B36DD47F-1376-41C7-9E9D-93E14E5D2C0D}" type="sibTrans" cxnId="{577E7D8F-EABE-478F-8EEC-2A6F17AC818F}">
      <dgm:prSet/>
      <dgm:spPr/>
      <dgm:t>
        <a:bodyPr/>
        <a:lstStyle/>
        <a:p>
          <a:endParaRPr lang="en-PK" sz="2000"/>
        </a:p>
      </dgm:t>
    </dgm:pt>
    <dgm:pt modelId="{47F80894-EBE4-4D7A-9B80-DD76866C1174}">
      <dgm:prSet custT="1"/>
      <dgm:spPr/>
      <dgm:t>
        <a:bodyPr/>
        <a:lstStyle/>
        <a:p>
          <a:r>
            <a:rPr lang="en-US" sz="11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Payments &amp; Billing System Integration</a:t>
          </a:r>
          <a:endParaRPr lang="en-PK" sz="1100" u="none" dirty="0"/>
        </a:p>
      </dgm:t>
    </dgm:pt>
    <dgm:pt modelId="{5E41A48E-F878-45A2-9E4D-6E860FBC31F2}" type="parTrans" cxnId="{2AF6D8A2-40C5-4148-868B-6E30B327C0BB}">
      <dgm:prSet/>
      <dgm:spPr/>
      <dgm:t>
        <a:bodyPr/>
        <a:lstStyle/>
        <a:p>
          <a:endParaRPr lang="en-PK" sz="2000"/>
        </a:p>
      </dgm:t>
    </dgm:pt>
    <dgm:pt modelId="{827CF7A5-AD99-42C2-A020-A88E8C3B7336}" type="sibTrans" cxnId="{2AF6D8A2-40C5-4148-868B-6E30B327C0BB}">
      <dgm:prSet/>
      <dgm:spPr/>
      <dgm:t>
        <a:bodyPr/>
        <a:lstStyle/>
        <a:p>
          <a:endParaRPr lang="en-PK" sz="2000"/>
        </a:p>
      </dgm:t>
    </dgm:pt>
    <dgm:pt modelId="{563D8E9F-5627-45AA-AB2D-B2C473BB6164}">
      <dgm:prSet phldrT="[Text]" custT="1"/>
      <dgm:spPr/>
      <dgm:t>
        <a:bodyPr/>
        <a:lstStyle/>
        <a:p>
          <a:r>
            <a:rPr lang="en-US" sz="11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Lawyer Recommendation Engine</a:t>
          </a:r>
          <a:endParaRPr lang="en-PK" sz="1100" dirty="0"/>
        </a:p>
      </dgm:t>
    </dgm:pt>
    <dgm:pt modelId="{8BA1162D-A412-49E4-B665-BE9767292AEF}" type="parTrans" cxnId="{0BB84570-0C2E-4258-A4E1-DC5300C888B3}">
      <dgm:prSet/>
      <dgm:spPr/>
      <dgm:t>
        <a:bodyPr/>
        <a:lstStyle/>
        <a:p>
          <a:endParaRPr lang="en-PK"/>
        </a:p>
      </dgm:t>
    </dgm:pt>
    <dgm:pt modelId="{5EC5FB23-B44C-41CC-92A1-967BB1951F2A}" type="sibTrans" cxnId="{0BB84570-0C2E-4258-A4E1-DC5300C888B3}">
      <dgm:prSet/>
      <dgm:spPr/>
      <dgm:t>
        <a:bodyPr/>
        <a:lstStyle/>
        <a:p>
          <a:endParaRPr lang="en-PK"/>
        </a:p>
      </dgm:t>
    </dgm:pt>
    <dgm:pt modelId="{20974149-F736-4BB4-913B-A4E80A1CD0E3}" type="pres">
      <dgm:prSet presAssocID="{3C5CBEF2-1FF6-4E38-82DD-2572B60BC18B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08B1F825-3FD2-40E4-94CE-2477E20E1173}" type="pres">
      <dgm:prSet presAssocID="{65B14A5D-ED44-4A64-9F41-8311CE47258E}" presName="horFlow" presStyleCnt="0"/>
      <dgm:spPr/>
    </dgm:pt>
    <dgm:pt modelId="{5CC7DF5A-5EF3-4D2C-B03E-7562FC418FD1}" type="pres">
      <dgm:prSet presAssocID="{65B14A5D-ED44-4A64-9F41-8311CE47258E}" presName="bigChev" presStyleLbl="node1" presStyleIdx="0" presStyleCnt="4"/>
      <dgm:spPr/>
    </dgm:pt>
    <dgm:pt modelId="{3B4897E1-5DAA-4808-A063-A2B5A72C031E}" type="pres">
      <dgm:prSet presAssocID="{8C8D37D3-9C5D-4F75-ACF0-FB394CE02E3B}" presName="parTrans" presStyleCnt="0"/>
      <dgm:spPr/>
    </dgm:pt>
    <dgm:pt modelId="{617D45B5-76B4-4846-B169-6BB585EFEF7A}" type="pres">
      <dgm:prSet presAssocID="{B8787DD1-F683-40AE-8A42-17F228BBB7B7}" presName="node" presStyleLbl="alignAccFollowNode1" presStyleIdx="0" presStyleCnt="12">
        <dgm:presLayoutVars>
          <dgm:bulletEnabled val="1"/>
        </dgm:presLayoutVars>
      </dgm:prSet>
      <dgm:spPr/>
    </dgm:pt>
    <dgm:pt modelId="{38D2A503-045B-4935-9080-EBC08CEE681C}" type="pres">
      <dgm:prSet presAssocID="{97831F35-1A29-4264-8B1E-D6E977D264FF}" presName="sibTrans" presStyleCnt="0"/>
      <dgm:spPr/>
    </dgm:pt>
    <dgm:pt modelId="{5AA59CFE-0D2A-4E85-AB3E-5C2BE732A597}" type="pres">
      <dgm:prSet presAssocID="{D995B0C2-1C6E-4146-947E-2868BFA0DD52}" presName="node" presStyleLbl="alignAccFollowNode1" presStyleIdx="1" presStyleCnt="12">
        <dgm:presLayoutVars>
          <dgm:bulletEnabled val="1"/>
        </dgm:presLayoutVars>
      </dgm:prSet>
      <dgm:spPr/>
    </dgm:pt>
    <dgm:pt modelId="{A674B1BB-BD11-4E9B-AEB2-41AE34767DB1}" type="pres">
      <dgm:prSet presAssocID="{B6174A47-FE31-4D95-8213-C21D040EBBDE}" presName="sibTrans" presStyleCnt="0"/>
      <dgm:spPr/>
    </dgm:pt>
    <dgm:pt modelId="{56B3AD3F-6F45-4385-998D-59D81BEBD465}" type="pres">
      <dgm:prSet presAssocID="{94D67D4C-C36B-429D-851D-CF64ED7A8F6D}" presName="node" presStyleLbl="alignAccFollowNode1" presStyleIdx="2" presStyleCnt="12">
        <dgm:presLayoutVars>
          <dgm:bulletEnabled val="1"/>
        </dgm:presLayoutVars>
      </dgm:prSet>
      <dgm:spPr/>
    </dgm:pt>
    <dgm:pt modelId="{05E2D599-5C48-4F4A-B0D1-AC24EA463071}" type="pres">
      <dgm:prSet presAssocID="{65B14A5D-ED44-4A64-9F41-8311CE47258E}" presName="vSp" presStyleCnt="0"/>
      <dgm:spPr/>
    </dgm:pt>
    <dgm:pt modelId="{40B4D133-708E-43BE-B6BD-344B6881279C}" type="pres">
      <dgm:prSet presAssocID="{D3CE6AD1-14E1-44FC-A208-2FB07081D6F8}" presName="horFlow" presStyleCnt="0"/>
      <dgm:spPr/>
    </dgm:pt>
    <dgm:pt modelId="{3AC17590-6BEA-4264-9A01-A92C851E07DE}" type="pres">
      <dgm:prSet presAssocID="{D3CE6AD1-14E1-44FC-A208-2FB07081D6F8}" presName="bigChev" presStyleLbl="node1" presStyleIdx="1" presStyleCnt="4"/>
      <dgm:spPr/>
    </dgm:pt>
    <dgm:pt modelId="{6A19B7F9-F182-429D-8E66-8154FF678ECB}" type="pres">
      <dgm:prSet presAssocID="{C2CB86DD-965E-4A51-8294-FB5997D06F67}" presName="parTrans" presStyleCnt="0"/>
      <dgm:spPr/>
    </dgm:pt>
    <dgm:pt modelId="{CCB3F913-94D9-46E7-8FAD-95F6955C6EB9}" type="pres">
      <dgm:prSet presAssocID="{D4077DC1-C6EA-49D0-A4D7-9E16FB9606B1}" presName="node" presStyleLbl="alignAccFollowNode1" presStyleIdx="3" presStyleCnt="12">
        <dgm:presLayoutVars>
          <dgm:bulletEnabled val="1"/>
        </dgm:presLayoutVars>
      </dgm:prSet>
      <dgm:spPr/>
    </dgm:pt>
    <dgm:pt modelId="{117F7F4A-2C06-4F08-9DB1-A17B18E0E19A}" type="pres">
      <dgm:prSet presAssocID="{95C323C6-E323-4473-8010-5655E3AD3B55}" presName="sibTrans" presStyleCnt="0"/>
      <dgm:spPr/>
    </dgm:pt>
    <dgm:pt modelId="{041E5FA1-7BF1-4FD6-9750-314C5B9B841D}" type="pres">
      <dgm:prSet presAssocID="{4E179D25-8A31-4721-9EA5-8DB759154C77}" presName="node" presStyleLbl="alignAccFollowNode1" presStyleIdx="4" presStyleCnt="12">
        <dgm:presLayoutVars>
          <dgm:bulletEnabled val="1"/>
        </dgm:presLayoutVars>
      </dgm:prSet>
      <dgm:spPr/>
    </dgm:pt>
    <dgm:pt modelId="{100492C0-8E45-4CB3-A447-361F88D6480A}" type="pres">
      <dgm:prSet presAssocID="{29606CE0-B504-4B07-BE83-BD8FE4E66784}" presName="sibTrans" presStyleCnt="0"/>
      <dgm:spPr/>
    </dgm:pt>
    <dgm:pt modelId="{7F3CD921-9A33-412B-8552-272ECA6E1306}" type="pres">
      <dgm:prSet presAssocID="{EC3E7F52-5842-40E2-BC77-C9F880160D29}" presName="node" presStyleLbl="alignAccFollowNode1" presStyleIdx="5" presStyleCnt="12">
        <dgm:presLayoutVars>
          <dgm:bulletEnabled val="1"/>
        </dgm:presLayoutVars>
      </dgm:prSet>
      <dgm:spPr/>
    </dgm:pt>
    <dgm:pt modelId="{E27E1F9D-B122-492F-9393-FD46747D64D1}" type="pres">
      <dgm:prSet presAssocID="{D3CE6AD1-14E1-44FC-A208-2FB07081D6F8}" presName="vSp" presStyleCnt="0"/>
      <dgm:spPr/>
    </dgm:pt>
    <dgm:pt modelId="{6C9E9378-86CB-400D-A8F6-8BFDF9311716}" type="pres">
      <dgm:prSet presAssocID="{B9FE45EF-7A6A-498C-93AD-CE329F6FF01F}" presName="horFlow" presStyleCnt="0"/>
      <dgm:spPr/>
    </dgm:pt>
    <dgm:pt modelId="{6EFFBF58-FEAC-4AFD-ACC6-46EAFEE8789A}" type="pres">
      <dgm:prSet presAssocID="{B9FE45EF-7A6A-498C-93AD-CE329F6FF01F}" presName="bigChev" presStyleLbl="node1" presStyleIdx="2" presStyleCnt="4"/>
      <dgm:spPr/>
    </dgm:pt>
    <dgm:pt modelId="{D5D35CF5-6388-435C-96D9-DE061EB3710F}" type="pres">
      <dgm:prSet presAssocID="{CF6CBCFB-C4CB-4A28-9967-C17C2D7FCDCB}" presName="parTrans" presStyleCnt="0"/>
      <dgm:spPr/>
    </dgm:pt>
    <dgm:pt modelId="{CB25F4DF-12F1-4827-83DB-0559BCFCE89F}" type="pres">
      <dgm:prSet presAssocID="{D68D38F8-CD38-4336-BF63-753F1F35E462}" presName="node" presStyleLbl="alignAccFollowNode1" presStyleIdx="6" presStyleCnt="12">
        <dgm:presLayoutVars>
          <dgm:bulletEnabled val="1"/>
        </dgm:presLayoutVars>
      </dgm:prSet>
      <dgm:spPr/>
    </dgm:pt>
    <dgm:pt modelId="{802F6507-505D-471B-AD19-39833D50F2B4}" type="pres">
      <dgm:prSet presAssocID="{C3D01B67-26E2-4459-9B0B-CBDED9BC9B01}" presName="sibTrans" presStyleCnt="0"/>
      <dgm:spPr/>
    </dgm:pt>
    <dgm:pt modelId="{78217155-B8BC-431C-AE6F-F5D6DD58E61C}" type="pres">
      <dgm:prSet presAssocID="{42B23D56-8552-4025-A15D-DDA73B2BAD12}" presName="node" presStyleLbl="alignAccFollowNode1" presStyleIdx="7" presStyleCnt="12">
        <dgm:presLayoutVars>
          <dgm:bulletEnabled val="1"/>
        </dgm:presLayoutVars>
      </dgm:prSet>
      <dgm:spPr/>
    </dgm:pt>
    <dgm:pt modelId="{4B01D5FB-CB02-42B9-81AC-FEDBDB268AAB}" type="pres">
      <dgm:prSet presAssocID="{DBB1D060-D296-4647-A6FC-581CA57E0C0E}" presName="sibTrans" presStyleCnt="0"/>
      <dgm:spPr/>
    </dgm:pt>
    <dgm:pt modelId="{2D0C259F-C644-42C2-A2D3-07A155D712AC}" type="pres">
      <dgm:prSet presAssocID="{67F136FF-548D-465D-A091-DFFA4114477A}" presName="node" presStyleLbl="alignAccFollowNode1" presStyleIdx="8" presStyleCnt="12">
        <dgm:presLayoutVars>
          <dgm:bulletEnabled val="1"/>
        </dgm:presLayoutVars>
      </dgm:prSet>
      <dgm:spPr/>
    </dgm:pt>
    <dgm:pt modelId="{7F30A788-65AE-46F1-916D-FA91DB44A1C6}" type="pres">
      <dgm:prSet presAssocID="{B9FE45EF-7A6A-498C-93AD-CE329F6FF01F}" presName="vSp" presStyleCnt="0"/>
      <dgm:spPr/>
    </dgm:pt>
    <dgm:pt modelId="{A3261BC6-F882-44E4-99BA-817E1E647EFF}" type="pres">
      <dgm:prSet presAssocID="{A7D9FFF2-B373-4D2D-8F85-659920BDF9B7}" presName="horFlow" presStyleCnt="0"/>
      <dgm:spPr/>
    </dgm:pt>
    <dgm:pt modelId="{99AFA6BE-04B5-4CB4-BD2D-9905DD6B9F88}" type="pres">
      <dgm:prSet presAssocID="{A7D9FFF2-B373-4D2D-8F85-659920BDF9B7}" presName="bigChev" presStyleLbl="node1" presStyleIdx="3" presStyleCnt="4"/>
      <dgm:spPr/>
    </dgm:pt>
    <dgm:pt modelId="{3B1DF7C7-0DFA-4AE1-98D7-D76705175BF5}" type="pres">
      <dgm:prSet presAssocID="{E58F060E-5036-45AD-AFDF-C3D1B1A580A6}" presName="parTrans" presStyleCnt="0"/>
      <dgm:spPr/>
    </dgm:pt>
    <dgm:pt modelId="{B0696BBD-1927-47D8-BAE0-FF7EACFE62A9}" type="pres">
      <dgm:prSet presAssocID="{9A3747CC-9E86-4FA8-A927-B047A974C0F3}" presName="node" presStyleLbl="alignAccFollowNode1" presStyleIdx="9" presStyleCnt="12">
        <dgm:presLayoutVars>
          <dgm:bulletEnabled val="1"/>
        </dgm:presLayoutVars>
      </dgm:prSet>
      <dgm:spPr/>
    </dgm:pt>
    <dgm:pt modelId="{A854396C-51DB-41CF-95C8-12DB7B700124}" type="pres">
      <dgm:prSet presAssocID="{B36DD47F-1376-41C7-9E9D-93E14E5D2C0D}" presName="sibTrans" presStyleCnt="0"/>
      <dgm:spPr/>
    </dgm:pt>
    <dgm:pt modelId="{2244F112-6F64-4697-A29E-5FED0B99264C}" type="pres">
      <dgm:prSet presAssocID="{563D8E9F-5627-45AA-AB2D-B2C473BB6164}" presName="node" presStyleLbl="alignAccFollowNode1" presStyleIdx="10" presStyleCnt="12">
        <dgm:presLayoutVars>
          <dgm:bulletEnabled val="1"/>
        </dgm:presLayoutVars>
      </dgm:prSet>
      <dgm:spPr/>
    </dgm:pt>
    <dgm:pt modelId="{119A6A40-A8F8-4EA8-876B-6BC7FEA947CD}" type="pres">
      <dgm:prSet presAssocID="{5EC5FB23-B44C-41CC-92A1-967BB1951F2A}" presName="sibTrans" presStyleCnt="0"/>
      <dgm:spPr/>
    </dgm:pt>
    <dgm:pt modelId="{D6FEF15E-DFB3-48AC-B453-82B4D5170BCE}" type="pres">
      <dgm:prSet presAssocID="{47F80894-EBE4-4D7A-9B80-DD76866C1174}" presName="node" presStyleLbl="alignAccFollowNode1" presStyleIdx="11" presStyleCnt="12">
        <dgm:presLayoutVars>
          <dgm:bulletEnabled val="1"/>
        </dgm:presLayoutVars>
      </dgm:prSet>
      <dgm:spPr/>
    </dgm:pt>
  </dgm:ptLst>
  <dgm:cxnLst>
    <dgm:cxn modelId="{EDF3E41B-EF00-457A-89C8-7A10378C472A}" type="presOf" srcId="{EC3E7F52-5842-40E2-BC77-C9F880160D29}" destId="{7F3CD921-9A33-412B-8552-272ECA6E1306}" srcOrd="0" destOrd="0" presId="urn:microsoft.com/office/officeart/2005/8/layout/lProcess3"/>
    <dgm:cxn modelId="{6E76EF1C-E0B5-4487-8A38-B46E76397B46}" type="presOf" srcId="{4E179D25-8A31-4721-9EA5-8DB759154C77}" destId="{041E5FA1-7BF1-4FD6-9750-314C5B9B841D}" srcOrd="0" destOrd="0" presId="urn:microsoft.com/office/officeart/2005/8/layout/lProcess3"/>
    <dgm:cxn modelId="{D0804C24-3613-46BD-BF47-9D5D714F13F3}" type="presOf" srcId="{47F80894-EBE4-4D7A-9B80-DD76866C1174}" destId="{D6FEF15E-DFB3-48AC-B453-82B4D5170BCE}" srcOrd="0" destOrd="0" presId="urn:microsoft.com/office/officeart/2005/8/layout/lProcess3"/>
    <dgm:cxn modelId="{D8946B2C-8C85-488B-8065-2E9DE69332BD}" type="presOf" srcId="{9A3747CC-9E86-4FA8-A927-B047A974C0F3}" destId="{B0696BBD-1927-47D8-BAE0-FF7EACFE62A9}" srcOrd="0" destOrd="0" presId="urn:microsoft.com/office/officeart/2005/8/layout/lProcess3"/>
    <dgm:cxn modelId="{9CED512F-5D6E-4B92-924F-A9CDD87F8A99}" type="presOf" srcId="{563D8E9F-5627-45AA-AB2D-B2C473BB6164}" destId="{2244F112-6F64-4697-A29E-5FED0B99264C}" srcOrd="0" destOrd="0" presId="urn:microsoft.com/office/officeart/2005/8/layout/lProcess3"/>
    <dgm:cxn modelId="{E9647239-FE43-497A-A9CB-7F380F52ADBF}" type="presOf" srcId="{B8787DD1-F683-40AE-8A42-17F228BBB7B7}" destId="{617D45B5-76B4-4846-B169-6BB585EFEF7A}" srcOrd="0" destOrd="0" presId="urn:microsoft.com/office/officeart/2005/8/layout/lProcess3"/>
    <dgm:cxn modelId="{E2B8675D-93BE-4855-93FC-65317A959446}" srcId="{D3CE6AD1-14E1-44FC-A208-2FB07081D6F8}" destId="{D4077DC1-C6EA-49D0-A4D7-9E16FB9606B1}" srcOrd="0" destOrd="0" parTransId="{C2CB86DD-965E-4A51-8294-FB5997D06F67}" sibTransId="{95C323C6-E323-4473-8010-5655E3AD3B55}"/>
    <dgm:cxn modelId="{57954D61-29E1-41A8-939D-DE8988E287D5}" type="presOf" srcId="{94D67D4C-C36B-429D-851D-CF64ED7A8F6D}" destId="{56B3AD3F-6F45-4385-998D-59D81BEBD465}" srcOrd="0" destOrd="0" presId="urn:microsoft.com/office/officeart/2005/8/layout/lProcess3"/>
    <dgm:cxn modelId="{0BB84570-0C2E-4258-A4E1-DC5300C888B3}" srcId="{A7D9FFF2-B373-4D2D-8F85-659920BDF9B7}" destId="{563D8E9F-5627-45AA-AB2D-B2C473BB6164}" srcOrd="1" destOrd="0" parTransId="{8BA1162D-A412-49E4-B665-BE9767292AEF}" sibTransId="{5EC5FB23-B44C-41CC-92A1-967BB1951F2A}"/>
    <dgm:cxn modelId="{1579AF54-1C90-425A-93FF-97EC5551A898}" srcId="{B9FE45EF-7A6A-498C-93AD-CE329F6FF01F}" destId="{67F136FF-548D-465D-A091-DFFA4114477A}" srcOrd="2" destOrd="0" parTransId="{D35FD56A-324B-4F82-B6D3-9E9ABFDA59BA}" sibTransId="{5A906C7D-CD26-416B-B658-952CECCEBDCB}"/>
    <dgm:cxn modelId="{31942457-A27C-4881-9C94-1A25338198AD}" type="presOf" srcId="{3C5CBEF2-1FF6-4E38-82DD-2572B60BC18B}" destId="{20974149-F736-4BB4-913B-A4E80A1CD0E3}" srcOrd="0" destOrd="0" presId="urn:microsoft.com/office/officeart/2005/8/layout/lProcess3"/>
    <dgm:cxn modelId="{8558B179-1A13-4312-A6B9-9B589EB9F793}" srcId="{3C5CBEF2-1FF6-4E38-82DD-2572B60BC18B}" destId="{A7D9FFF2-B373-4D2D-8F85-659920BDF9B7}" srcOrd="3" destOrd="0" parTransId="{CF16325E-CB3F-4DA7-B6E3-1E6F7FA5E027}" sibTransId="{A3708738-A306-4AB6-A5B7-8B2D9DAA2A4D}"/>
    <dgm:cxn modelId="{EC81605A-E099-4D78-B518-14DFA6057062}" srcId="{65B14A5D-ED44-4A64-9F41-8311CE47258E}" destId="{94D67D4C-C36B-429D-851D-CF64ED7A8F6D}" srcOrd="2" destOrd="0" parTransId="{0E7D2D57-B078-4EA3-90ED-4FE6756A9B20}" sibTransId="{C96C9F55-AAC2-4702-91CD-8687ACF5A48F}"/>
    <dgm:cxn modelId="{8EFCD07A-C2A8-40B8-81CE-876276D52AAC}" type="presOf" srcId="{D68D38F8-CD38-4336-BF63-753F1F35E462}" destId="{CB25F4DF-12F1-4827-83DB-0559BCFCE89F}" srcOrd="0" destOrd="0" presId="urn:microsoft.com/office/officeart/2005/8/layout/lProcess3"/>
    <dgm:cxn modelId="{4A2EE582-C47C-4B14-8B55-C0C02C8E9BE0}" type="presOf" srcId="{65B14A5D-ED44-4A64-9F41-8311CE47258E}" destId="{5CC7DF5A-5EF3-4D2C-B03E-7562FC418FD1}" srcOrd="0" destOrd="0" presId="urn:microsoft.com/office/officeart/2005/8/layout/lProcess3"/>
    <dgm:cxn modelId="{2D2A9384-D526-44E7-BF42-20E7315973EE}" type="presOf" srcId="{D995B0C2-1C6E-4146-947E-2868BFA0DD52}" destId="{5AA59CFE-0D2A-4E85-AB3E-5C2BE732A597}" srcOrd="0" destOrd="0" presId="urn:microsoft.com/office/officeart/2005/8/layout/lProcess3"/>
    <dgm:cxn modelId="{577E7D8F-EABE-478F-8EEC-2A6F17AC818F}" srcId="{A7D9FFF2-B373-4D2D-8F85-659920BDF9B7}" destId="{9A3747CC-9E86-4FA8-A927-B047A974C0F3}" srcOrd="0" destOrd="0" parTransId="{E58F060E-5036-45AD-AFDF-C3D1B1A580A6}" sibTransId="{B36DD47F-1376-41C7-9E9D-93E14E5D2C0D}"/>
    <dgm:cxn modelId="{71028891-D0C4-474C-9EE8-77BDF186AD98}" type="presOf" srcId="{A7D9FFF2-B373-4D2D-8F85-659920BDF9B7}" destId="{99AFA6BE-04B5-4CB4-BD2D-9905DD6B9F88}" srcOrd="0" destOrd="0" presId="urn:microsoft.com/office/officeart/2005/8/layout/lProcess3"/>
    <dgm:cxn modelId="{D4704D97-2229-42C3-881D-FCDDDB1C5F69}" srcId="{B9FE45EF-7A6A-498C-93AD-CE329F6FF01F}" destId="{42B23D56-8552-4025-A15D-DDA73B2BAD12}" srcOrd="1" destOrd="0" parTransId="{325AB3D4-22E3-4B8C-825F-93D1FA1F8BDC}" sibTransId="{DBB1D060-D296-4647-A6FC-581CA57E0C0E}"/>
    <dgm:cxn modelId="{F029E399-5041-4B0F-AFBB-3155569CBA3E}" srcId="{65B14A5D-ED44-4A64-9F41-8311CE47258E}" destId="{B8787DD1-F683-40AE-8A42-17F228BBB7B7}" srcOrd="0" destOrd="0" parTransId="{8C8D37D3-9C5D-4F75-ACF0-FB394CE02E3B}" sibTransId="{97831F35-1A29-4264-8B1E-D6E977D264FF}"/>
    <dgm:cxn modelId="{2AF6D8A2-40C5-4148-868B-6E30B327C0BB}" srcId="{A7D9FFF2-B373-4D2D-8F85-659920BDF9B7}" destId="{47F80894-EBE4-4D7A-9B80-DD76866C1174}" srcOrd="2" destOrd="0" parTransId="{5E41A48E-F878-45A2-9E4D-6E860FBC31F2}" sibTransId="{827CF7A5-AD99-42C2-A020-A88E8C3B7336}"/>
    <dgm:cxn modelId="{D05527AF-D7FF-491C-9C92-F96225CE7A2E}" type="presOf" srcId="{42B23D56-8552-4025-A15D-DDA73B2BAD12}" destId="{78217155-B8BC-431C-AE6F-F5D6DD58E61C}" srcOrd="0" destOrd="0" presId="urn:microsoft.com/office/officeart/2005/8/layout/lProcess3"/>
    <dgm:cxn modelId="{0510F4B2-82C1-40B5-A6B6-B626C3A7C7C0}" type="presOf" srcId="{D4077DC1-C6EA-49D0-A4D7-9E16FB9606B1}" destId="{CCB3F913-94D9-46E7-8FAD-95F6955C6EB9}" srcOrd="0" destOrd="0" presId="urn:microsoft.com/office/officeart/2005/8/layout/lProcess3"/>
    <dgm:cxn modelId="{4A0389C1-8950-409C-9CFA-15C63C2412FA}" srcId="{3C5CBEF2-1FF6-4E38-82DD-2572B60BC18B}" destId="{B9FE45EF-7A6A-498C-93AD-CE329F6FF01F}" srcOrd="2" destOrd="0" parTransId="{90DD1936-8CEC-4397-B6E1-674FE1812BF0}" sibTransId="{ED05F376-98FE-4D88-B825-BE8B5CAF2835}"/>
    <dgm:cxn modelId="{174B39CA-3D5F-42B1-9859-D98CE7234BD0}" srcId="{D3CE6AD1-14E1-44FC-A208-2FB07081D6F8}" destId="{4E179D25-8A31-4721-9EA5-8DB759154C77}" srcOrd="1" destOrd="0" parTransId="{BFB09998-4966-4AB9-AA97-CC87583BE536}" sibTransId="{29606CE0-B504-4B07-BE83-BD8FE4E66784}"/>
    <dgm:cxn modelId="{CDB12FCC-1395-4CA6-A65D-3134E274861C}" srcId="{3C5CBEF2-1FF6-4E38-82DD-2572B60BC18B}" destId="{D3CE6AD1-14E1-44FC-A208-2FB07081D6F8}" srcOrd="1" destOrd="0" parTransId="{D21AA3BD-1030-477B-B38E-320AAE191B9C}" sibTransId="{95CAEC2B-C0DE-4ADC-9B32-72357E840ABB}"/>
    <dgm:cxn modelId="{FE3701CE-AECC-451D-8C7E-E70417F197ED}" srcId="{D3CE6AD1-14E1-44FC-A208-2FB07081D6F8}" destId="{EC3E7F52-5842-40E2-BC77-C9F880160D29}" srcOrd="2" destOrd="0" parTransId="{35E70073-5896-486C-B0E0-96BFC0489E2C}" sibTransId="{1C689E5F-3261-464A-8F6B-36F0E78741E6}"/>
    <dgm:cxn modelId="{0EC823D2-1352-4F22-A7CF-4F8512E8F396}" type="presOf" srcId="{D3CE6AD1-14E1-44FC-A208-2FB07081D6F8}" destId="{3AC17590-6BEA-4264-9A01-A92C851E07DE}" srcOrd="0" destOrd="0" presId="urn:microsoft.com/office/officeart/2005/8/layout/lProcess3"/>
    <dgm:cxn modelId="{52B2B5E2-7BA7-42CA-A284-61B5D635590C}" srcId="{3C5CBEF2-1FF6-4E38-82DD-2572B60BC18B}" destId="{65B14A5D-ED44-4A64-9F41-8311CE47258E}" srcOrd="0" destOrd="0" parTransId="{DD87FBA9-562F-4C59-B9EE-264D3A8B2D3B}" sibTransId="{D09FDAFE-3368-4FD2-A4FD-EFFB9D9A1F32}"/>
    <dgm:cxn modelId="{CD4EC5E5-5F6E-4B23-9089-13CFF121E3D1}" type="presOf" srcId="{B9FE45EF-7A6A-498C-93AD-CE329F6FF01F}" destId="{6EFFBF58-FEAC-4AFD-ACC6-46EAFEE8789A}" srcOrd="0" destOrd="0" presId="urn:microsoft.com/office/officeart/2005/8/layout/lProcess3"/>
    <dgm:cxn modelId="{87FD21E7-33E2-4687-8D53-EF7A8DB02E4B}" type="presOf" srcId="{67F136FF-548D-465D-A091-DFFA4114477A}" destId="{2D0C259F-C644-42C2-A2D3-07A155D712AC}" srcOrd="0" destOrd="0" presId="urn:microsoft.com/office/officeart/2005/8/layout/lProcess3"/>
    <dgm:cxn modelId="{67C5A1E8-2A07-47E1-9F44-09B77F57D581}" srcId="{B9FE45EF-7A6A-498C-93AD-CE329F6FF01F}" destId="{D68D38F8-CD38-4336-BF63-753F1F35E462}" srcOrd="0" destOrd="0" parTransId="{CF6CBCFB-C4CB-4A28-9967-C17C2D7FCDCB}" sibTransId="{C3D01B67-26E2-4459-9B0B-CBDED9BC9B01}"/>
    <dgm:cxn modelId="{8C1EEEFE-DF2E-40F8-8AE0-5476ADF97F7E}" srcId="{65B14A5D-ED44-4A64-9F41-8311CE47258E}" destId="{D995B0C2-1C6E-4146-947E-2868BFA0DD52}" srcOrd="1" destOrd="0" parTransId="{4CA01599-14FF-46C4-8B49-C97F6E9C4608}" sibTransId="{B6174A47-FE31-4D95-8213-C21D040EBBDE}"/>
    <dgm:cxn modelId="{FD2A1700-62B2-4509-B894-A5439EF33680}" type="presParOf" srcId="{20974149-F736-4BB4-913B-A4E80A1CD0E3}" destId="{08B1F825-3FD2-40E4-94CE-2477E20E1173}" srcOrd="0" destOrd="0" presId="urn:microsoft.com/office/officeart/2005/8/layout/lProcess3"/>
    <dgm:cxn modelId="{BDC94F9D-24D2-4B9D-B73F-32DFF7FC8FB1}" type="presParOf" srcId="{08B1F825-3FD2-40E4-94CE-2477E20E1173}" destId="{5CC7DF5A-5EF3-4D2C-B03E-7562FC418FD1}" srcOrd="0" destOrd="0" presId="urn:microsoft.com/office/officeart/2005/8/layout/lProcess3"/>
    <dgm:cxn modelId="{D0ABE2CE-E326-4A4F-9541-8274FBFDFEBD}" type="presParOf" srcId="{08B1F825-3FD2-40E4-94CE-2477E20E1173}" destId="{3B4897E1-5DAA-4808-A063-A2B5A72C031E}" srcOrd="1" destOrd="0" presId="urn:microsoft.com/office/officeart/2005/8/layout/lProcess3"/>
    <dgm:cxn modelId="{9A9BC09A-C882-4058-9F5A-224699D32DFA}" type="presParOf" srcId="{08B1F825-3FD2-40E4-94CE-2477E20E1173}" destId="{617D45B5-76B4-4846-B169-6BB585EFEF7A}" srcOrd="2" destOrd="0" presId="urn:microsoft.com/office/officeart/2005/8/layout/lProcess3"/>
    <dgm:cxn modelId="{F5C714FA-38B4-46EF-A760-A547FF28434E}" type="presParOf" srcId="{08B1F825-3FD2-40E4-94CE-2477E20E1173}" destId="{38D2A503-045B-4935-9080-EBC08CEE681C}" srcOrd="3" destOrd="0" presId="urn:microsoft.com/office/officeart/2005/8/layout/lProcess3"/>
    <dgm:cxn modelId="{47070D77-EE1F-4812-9ABF-C863157DDE36}" type="presParOf" srcId="{08B1F825-3FD2-40E4-94CE-2477E20E1173}" destId="{5AA59CFE-0D2A-4E85-AB3E-5C2BE732A597}" srcOrd="4" destOrd="0" presId="urn:microsoft.com/office/officeart/2005/8/layout/lProcess3"/>
    <dgm:cxn modelId="{34B78430-0EC3-4CBB-961D-B9A184AF6BCB}" type="presParOf" srcId="{08B1F825-3FD2-40E4-94CE-2477E20E1173}" destId="{A674B1BB-BD11-4E9B-AEB2-41AE34767DB1}" srcOrd="5" destOrd="0" presId="urn:microsoft.com/office/officeart/2005/8/layout/lProcess3"/>
    <dgm:cxn modelId="{96EA3343-87D9-4F35-89E9-149F16150285}" type="presParOf" srcId="{08B1F825-3FD2-40E4-94CE-2477E20E1173}" destId="{56B3AD3F-6F45-4385-998D-59D81BEBD465}" srcOrd="6" destOrd="0" presId="urn:microsoft.com/office/officeart/2005/8/layout/lProcess3"/>
    <dgm:cxn modelId="{1EFCFE3F-112B-448D-A6A5-6B3E7F9E210B}" type="presParOf" srcId="{20974149-F736-4BB4-913B-A4E80A1CD0E3}" destId="{05E2D599-5C48-4F4A-B0D1-AC24EA463071}" srcOrd="1" destOrd="0" presId="urn:microsoft.com/office/officeart/2005/8/layout/lProcess3"/>
    <dgm:cxn modelId="{80D46CE9-6875-4A2E-86EB-E2DEA53175B0}" type="presParOf" srcId="{20974149-F736-4BB4-913B-A4E80A1CD0E3}" destId="{40B4D133-708E-43BE-B6BD-344B6881279C}" srcOrd="2" destOrd="0" presId="urn:microsoft.com/office/officeart/2005/8/layout/lProcess3"/>
    <dgm:cxn modelId="{4665B156-D39B-4984-8B30-26316B6B2734}" type="presParOf" srcId="{40B4D133-708E-43BE-B6BD-344B6881279C}" destId="{3AC17590-6BEA-4264-9A01-A92C851E07DE}" srcOrd="0" destOrd="0" presId="urn:microsoft.com/office/officeart/2005/8/layout/lProcess3"/>
    <dgm:cxn modelId="{E775093D-C9E6-4038-8F9E-897A9D4ADFD9}" type="presParOf" srcId="{40B4D133-708E-43BE-B6BD-344B6881279C}" destId="{6A19B7F9-F182-429D-8E66-8154FF678ECB}" srcOrd="1" destOrd="0" presId="urn:microsoft.com/office/officeart/2005/8/layout/lProcess3"/>
    <dgm:cxn modelId="{AC8356A9-C143-4542-AE8D-4DCF814B2305}" type="presParOf" srcId="{40B4D133-708E-43BE-B6BD-344B6881279C}" destId="{CCB3F913-94D9-46E7-8FAD-95F6955C6EB9}" srcOrd="2" destOrd="0" presId="urn:microsoft.com/office/officeart/2005/8/layout/lProcess3"/>
    <dgm:cxn modelId="{19FDAC4B-649C-4FA2-B6EA-3505E912A220}" type="presParOf" srcId="{40B4D133-708E-43BE-B6BD-344B6881279C}" destId="{117F7F4A-2C06-4F08-9DB1-A17B18E0E19A}" srcOrd="3" destOrd="0" presId="urn:microsoft.com/office/officeart/2005/8/layout/lProcess3"/>
    <dgm:cxn modelId="{B844DABE-105A-471F-A7A6-1585109802AF}" type="presParOf" srcId="{40B4D133-708E-43BE-B6BD-344B6881279C}" destId="{041E5FA1-7BF1-4FD6-9750-314C5B9B841D}" srcOrd="4" destOrd="0" presId="urn:microsoft.com/office/officeart/2005/8/layout/lProcess3"/>
    <dgm:cxn modelId="{D77387DA-C529-4B3B-8374-21E87CB95387}" type="presParOf" srcId="{40B4D133-708E-43BE-B6BD-344B6881279C}" destId="{100492C0-8E45-4CB3-A447-361F88D6480A}" srcOrd="5" destOrd="0" presId="urn:microsoft.com/office/officeart/2005/8/layout/lProcess3"/>
    <dgm:cxn modelId="{1374D3A5-B5B6-4B43-8B6D-24181EF6B756}" type="presParOf" srcId="{40B4D133-708E-43BE-B6BD-344B6881279C}" destId="{7F3CD921-9A33-412B-8552-272ECA6E1306}" srcOrd="6" destOrd="0" presId="urn:microsoft.com/office/officeart/2005/8/layout/lProcess3"/>
    <dgm:cxn modelId="{770D8A42-FFCC-4DC3-B88E-CA89C2D70B14}" type="presParOf" srcId="{20974149-F736-4BB4-913B-A4E80A1CD0E3}" destId="{E27E1F9D-B122-492F-9393-FD46747D64D1}" srcOrd="3" destOrd="0" presId="urn:microsoft.com/office/officeart/2005/8/layout/lProcess3"/>
    <dgm:cxn modelId="{56C86C10-EA98-42CF-AEF7-F3C534500738}" type="presParOf" srcId="{20974149-F736-4BB4-913B-A4E80A1CD0E3}" destId="{6C9E9378-86CB-400D-A8F6-8BFDF9311716}" srcOrd="4" destOrd="0" presId="urn:microsoft.com/office/officeart/2005/8/layout/lProcess3"/>
    <dgm:cxn modelId="{5604B00C-F7C9-41AE-B0E9-B19C8C0A2B55}" type="presParOf" srcId="{6C9E9378-86CB-400D-A8F6-8BFDF9311716}" destId="{6EFFBF58-FEAC-4AFD-ACC6-46EAFEE8789A}" srcOrd="0" destOrd="0" presId="urn:microsoft.com/office/officeart/2005/8/layout/lProcess3"/>
    <dgm:cxn modelId="{C3FC6873-9DE9-4C6B-BD5B-CC739529509F}" type="presParOf" srcId="{6C9E9378-86CB-400D-A8F6-8BFDF9311716}" destId="{D5D35CF5-6388-435C-96D9-DE061EB3710F}" srcOrd="1" destOrd="0" presId="urn:microsoft.com/office/officeart/2005/8/layout/lProcess3"/>
    <dgm:cxn modelId="{2B80B590-5F39-4795-B037-2BF5FEE37A65}" type="presParOf" srcId="{6C9E9378-86CB-400D-A8F6-8BFDF9311716}" destId="{CB25F4DF-12F1-4827-83DB-0559BCFCE89F}" srcOrd="2" destOrd="0" presId="urn:microsoft.com/office/officeart/2005/8/layout/lProcess3"/>
    <dgm:cxn modelId="{2C69BDD7-FEC9-4415-A0F5-A89B183019A3}" type="presParOf" srcId="{6C9E9378-86CB-400D-A8F6-8BFDF9311716}" destId="{802F6507-505D-471B-AD19-39833D50F2B4}" srcOrd="3" destOrd="0" presId="urn:microsoft.com/office/officeart/2005/8/layout/lProcess3"/>
    <dgm:cxn modelId="{8B413400-3D90-4B55-AAB3-F19CD6D17D33}" type="presParOf" srcId="{6C9E9378-86CB-400D-A8F6-8BFDF9311716}" destId="{78217155-B8BC-431C-AE6F-F5D6DD58E61C}" srcOrd="4" destOrd="0" presId="urn:microsoft.com/office/officeart/2005/8/layout/lProcess3"/>
    <dgm:cxn modelId="{895FB1B4-113D-46AD-9BA2-D9943EE4963E}" type="presParOf" srcId="{6C9E9378-86CB-400D-A8F6-8BFDF9311716}" destId="{4B01D5FB-CB02-42B9-81AC-FEDBDB268AAB}" srcOrd="5" destOrd="0" presId="urn:microsoft.com/office/officeart/2005/8/layout/lProcess3"/>
    <dgm:cxn modelId="{44290A5A-AB27-4E7D-926E-F9B66BD9AC20}" type="presParOf" srcId="{6C9E9378-86CB-400D-A8F6-8BFDF9311716}" destId="{2D0C259F-C644-42C2-A2D3-07A155D712AC}" srcOrd="6" destOrd="0" presId="urn:microsoft.com/office/officeart/2005/8/layout/lProcess3"/>
    <dgm:cxn modelId="{AD44BFA9-66CE-4E5A-BEA7-539467204C02}" type="presParOf" srcId="{20974149-F736-4BB4-913B-A4E80A1CD0E3}" destId="{7F30A788-65AE-46F1-916D-FA91DB44A1C6}" srcOrd="5" destOrd="0" presId="urn:microsoft.com/office/officeart/2005/8/layout/lProcess3"/>
    <dgm:cxn modelId="{022FC52F-E299-4CFF-860B-94F1FC2D0218}" type="presParOf" srcId="{20974149-F736-4BB4-913B-A4E80A1CD0E3}" destId="{A3261BC6-F882-44E4-99BA-817E1E647EFF}" srcOrd="6" destOrd="0" presId="urn:microsoft.com/office/officeart/2005/8/layout/lProcess3"/>
    <dgm:cxn modelId="{8FC36B7C-6AA5-41C0-9B7F-14BA4F5CB22E}" type="presParOf" srcId="{A3261BC6-F882-44E4-99BA-817E1E647EFF}" destId="{99AFA6BE-04B5-4CB4-BD2D-9905DD6B9F88}" srcOrd="0" destOrd="0" presId="urn:microsoft.com/office/officeart/2005/8/layout/lProcess3"/>
    <dgm:cxn modelId="{F65D93E5-F8FF-4B82-A98B-F5E8B91BF121}" type="presParOf" srcId="{A3261BC6-F882-44E4-99BA-817E1E647EFF}" destId="{3B1DF7C7-0DFA-4AE1-98D7-D76705175BF5}" srcOrd="1" destOrd="0" presId="urn:microsoft.com/office/officeart/2005/8/layout/lProcess3"/>
    <dgm:cxn modelId="{8F0E7FE1-E078-43FC-9820-0FE1B2034D7F}" type="presParOf" srcId="{A3261BC6-F882-44E4-99BA-817E1E647EFF}" destId="{B0696BBD-1927-47D8-BAE0-FF7EACFE62A9}" srcOrd="2" destOrd="0" presId="urn:microsoft.com/office/officeart/2005/8/layout/lProcess3"/>
    <dgm:cxn modelId="{602CA225-F4DD-4D0E-BD4F-4DADDEF20960}" type="presParOf" srcId="{A3261BC6-F882-44E4-99BA-817E1E647EFF}" destId="{A854396C-51DB-41CF-95C8-12DB7B700124}" srcOrd="3" destOrd="0" presId="urn:microsoft.com/office/officeart/2005/8/layout/lProcess3"/>
    <dgm:cxn modelId="{6BE9CEEC-6FEA-4751-A541-FE82B8BEA317}" type="presParOf" srcId="{A3261BC6-F882-44E4-99BA-817E1E647EFF}" destId="{2244F112-6F64-4697-A29E-5FED0B99264C}" srcOrd="4" destOrd="0" presId="urn:microsoft.com/office/officeart/2005/8/layout/lProcess3"/>
    <dgm:cxn modelId="{73C6CF05-F242-4194-AC55-5E078B496824}" type="presParOf" srcId="{A3261BC6-F882-44E4-99BA-817E1E647EFF}" destId="{119A6A40-A8F8-4EA8-876B-6BC7FEA947CD}" srcOrd="5" destOrd="0" presId="urn:microsoft.com/office/officeart/2005/8/layout/lProcess3"/>
    <dgm:cxn modelId="{3E7D158A-DE06-4EE4-B98A-58454B184F0A}" type="presParOf" srcId="{A3261BC6-F882-44E4-99BA-817E1E647EFF}" destId="{D6FEF15E-DFB3-48AC-B453-82B4D5170BCE}" srcOrd="6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6C0D49-0C30-4CA0-AB60-70276AC5FC18}">
      <dsp:nvSpPr>
        <dsp:cNvPr id="0" name=""/>
        <dsp:cNvSpPr/>
      </dsp:nvSpPr>
      <dsp:spPr>
        <a:xfrm>
          <a:off x="0" y="464019"/>
          <a:ext cx="6096000" cy="7812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0BDEDE6-4F5B-450F-B67E-B9B0B2BCB7ED}">
      <dsp:nvSpPr>
        <dsp:cNvPr id="0" name=""/>
        <dsp:cNvSpPr/>
      </dsp:nvSpPr>
      <dsp:spPr>
        <a:xfrm>
          <a:off x="304800" y="6459"/>
          <a:ext cx="4267200" cy="91512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General Citizen</a:t>
          </a:r>
          <a:endParaRPr lang="en-PK" sz="3100" kern="1200" dirty="0"/>
        </a:p>
      </dsp:txBody>
      <dsp:txXfrm>
        <a:off x="349472" y="51131"/>
        <a:ext cx="4177856" cy="825776"/>
      </dsp:txXfrm>
    </dsp:sp>
    <dsp:sp modelId="{8B2EF313-2858-442A-B976-4A7FD1EC72F4}">
      <dsp:nvSpPr>
        <dsp:cNvPr id="0" name=""/>
        <dsp:cNvSpPr/>
      </dsp:nvSpPr>
      <dsp:spPr>
        <a:xfrm>
          <a:off x="0" y="1870179"/>
          <a:ext cx="6096000" cy="7812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9E969CB-F31B-496E-A216-F5A024E01B6E}">
      <dsp:nvSpPr>
        <dsp:cNvPr id="0" name=""/>
        <dsp:cNvSpPr/>
      </dsp:nvSpPr>
      <dsp:spPr>
        <a:xfrm>
          <a:off x="304800" y="1412619"/>
          <a:ext cx="4267200" cy="91512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Lawyer</a:t>
          </a:r>
          <a:endParaRPr lang="en-PK" sz="3100" kern="1200" dirty="0"/>
        </a:p>
      </dsp:txBody>
      <dsp:txXfrm>
        <a:off x="349472" y="1457291"/>
        <a:ext cx="4177856" cy="825776"/>
      </dsp:txXfrm>
    </dsp:sp>
    <dsp:sp modelId="{BEAB6E02-CC3C-4765-B76B-619B6DC79714}">
      <dsp:nvSpPr>
        <dsp:cNvPr id="0" name=""/>
        <dsp:cNvSpPr/>
      </dsp:nvSpPr>
      <dsp:spPr>
        <a:xfrm>
          <a:off x="0" y="3276340"/>
          <a:ext cx="6096000" cy="7812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318E23B-1454-4A7C-A2E3-DD7D9A758100}">
      <dsp:nvSpPr>
        <dsp:cNvPr id="0" name=""/>
        <dsp:cNvSpPr/>
      </dsp:nvSpPr>
      <dsp:spPr>
        <a:xfrm>
          <a:off x="304800" y="2818780"/>
          <a:ext cx="4267200" cy="91512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Admin</a:t>
          </a:r>
          <a:endParaRPr lang="en-PK" sz="3100" kern="1200" dirty="0"/>
        </a:p>
      </dsp:txBody>
      <dsp:txXfrm>
        <a:off x="349472" y="2863452"/>
        <a:ext cx="4177856" cy="8257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C7DF5A-5EF3-4D2C-B03E-7562FC418FD1}">
      <dsp:nvSpPr>
        <dsp:cNvPr id="0" name=""/>
        <dsp:cNvSpPr/>
      </dsp:nvSpPr>
      <dsp:spPr>
        <a:xfrm>
          <a:off x="4713" y="261932"/>
          <a:ext cx="2418131" cy="967252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20320" rIns="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Sep-Nov</a:t>
          </a:r>
          <a:endParaRPr lang="en-PK" sz="3200" kern="1200" dirty="0"/>
        </a:p>
      </dsp:txBody>
      <dsp:txXfrm>
        <a:off x="488339" y="261932"/>
        <a:ext cx="1450879" cy="967252"/>
      </dsp:txXfrm>
    </dsp:sp>
    <dsp:sp modelId="{617D45B5-76B4-4846-B169-6BB585EFEF7A}">
      <dsp:nvSpPr>
        <dsp:cNvPr id="0" name=""/>
        <dsp:cNvSpPr/>
      </dsp:nvSpPr>
      <dsp:spPr>
        <a:xfrm>
          <a:off x="2108488" y="344149"/>
          <a:ext cx="2007049" cy="802819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Lato"/>
              <a:ea typeface="Lato"/>
              <a:cs typeface="Lato"/>
              <a:sym typeface="Lato"/>
            </a:rPr>
            <a:t>Frontend &amp; User Experience</a:t>
          </a:r>
          <a:endParaRPr lang="en-PK" sz="1100" kern="1200" dirty="0"/>
        </a:p>
      </dsp:txBody>
      <dsp:txXfrm>
        <a:off x="2509898" y="344149"/>
        <a:ext cx="1204230" cy="802819"/>
      </dsp:txXfrm>
    </dsp:sp>
    <dsp:sp modelId="{5AA59CFE-0D2A-4E85-AB3E-5C2BE732A597}">
      <dsp:nvSpPr>
        <dsp:cNvPr id="0" name=""/>
        <dsp:cNvSpPr/>
      </dsp:nvSpPr>
      <dsp:spPr>
        <a:xfrm>
          <a:off x="3834550" y="344149"/>
          <a:ext cx="2007049" cy="802819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Query Classification + RAG Setup </a:t>
          </a:r>
          <a:endParaRPr lang="en-PK" sz="1100" kern="1200" dirty="0"/>
        </a:p>
      </dsp:txBody>
      <dsp:txXfrm>
        <a:off x="4235960" y="344149"/>
        <a:ext cx="1204230" cy="802819"/>
      </dsp:txXfrm>
    </dsp:sp>
    <dsp:sp modelId="{56B3AD3F-6F45-4385-998D-59D81BEBD465}">
      <dsp:nvSpPr>
        <dsp:cNvPr id="0" name=""/>
        <dsp:cNvSpPr/>
      </dsp:nvSpPr>
      <dsp:spPr>
        <a:xfrm>
          <a:off x="5560613" y="344149"/>
          <a:ext cx="2007049" cy="802819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u="none" kern="1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AI Chatbot Urdu/English </a:t>
          </a:r>
        </a:p>
      </dsp:txBody>
      <dsp:txXfrm>
        <a:off x="5962023" y="344149"/>
        <a:ext cx="1204230" cy="802819"/>
      </dsp:txXfrm>
    </dsp:sp>
    <dsp:sp modelId="{3AC17590-6BEA-4264-9A01-A92C851E07DE}">
      <dsp:nvSpPr>
        <dsp:cNvPr id="0" name=""/>
        <dsp:cNvSpPr/>
      </dsp:nvSpPr>
      <dsp:spPr>
        <a:xfrm>
          <a:off x="4713" y="1364601"/>
          <a:ext cx="2418131" cy="967252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20320" rIns="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Dec-Feb</a:t>
          </a:r>
          <a:endParaRPr lang="en-PK" sz="3200" kern="1200" dirty="0"/>
        </a:p>
      </dsp:txBody>
      <dsp:txXfrm>
        <a:off x="488339" y="1364601"/>
        <a:ext cx="1450879" cy="967252"/>
      </dsp:txXfrm>
    </dsp:sp>
    <dsp:sp modelId="{CCB3F913-94D9-46E7-8FAD-95F6955C6EB9}">
      <dsp:nvSpPr>
        <dsp:cNvPr id="0" name=""/>
        <dsp:cNvSpPr/>
      </dsp:nvSpPr>
      <dsp:spPr>
        <a:xfrm>
          <a:off x="2108488" y="1446817"/>
          <a:ext cx="2007049" cy="802819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Legal Knowledge Base (simplified laws</a:t>
          </a:r>
          <a:endParaRPr lang="en-PK" sz="1100" kern="1200" dirty="0"/>
        </a:p>
      </dsp:txBody>
      <dsp:txXfrm>
        <a:off x="2509898" y="1446817"/>
        <a:ext cx="1204230" cy="802819"/>
      </dsp:txXfrm>
    </dsp:sp>
    <dsp:sp modelId="{041E5FA1-7BF1-4FD6-9750-314C5B9B841D}">
      <dsp:nvSpPr>
        <dsp:cNvPr id="0" name=""/>
        <dsp:cNvSpPr/>
      </dsp:nvSpPr>
      <dsp:spPr>
        <a:xfrm>
          <a:off x="3834550" y="1446817"/>
          <a:ext cx="2007049" cy="802819"/>
        </a:xfrm>
        <a:prstGeom prst="chevron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OCR Integration &amp; Testing Module</a:t>
          </a:r>
          <a:endParaRPr lang="en-PK" sz="1100" kern="1200" dirty="0"/>
        </a:p>
      </dsp:txBody>
      <dsp:txXfrm>
        <a:off x="4235960" y="1446817"/>
        <a:ext cx="1204230" cy="802819"/>
      </dsp:txXfrm>
    </dsp:sp>
    <dsp:sp modelId="{7F3CD921-9A33-412B-8552-272ECA6E1306}">
      <dsp:nvSpPr>
        <dsp:cNvPr id="0" name=""/>
        <dsp:cNvSpPr/>
      </dsp:nvSpPr>
      <dsp:spPr>
        <a:xfrm>
          <a:off x="5560613" y="1446817"/>
          <a:ext cx="2007049" cy="802819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Voice Input/Output &amp; Notifications System</a:t>
          </a:r>
          <a:endParaRPr lang="en-US" sz="1100" kern="1200" dirty="0">
            <a:solidFill>
              <a:srgbClr val="000000"/>
            </a:solidFill>
            <a:latin typeface="Lato"/>
            <a:ea typeface="Lato"/>
            <a:cs typeface="Lato"/>
            <a:sym typeface="Lato"/>
          </a:endParaRPr>
        </a:p>
      </dsp:txBody>
      <dsp:txXfrm>
        <a:off x="5962023" y="1446817"/>
        <a:ext cx="1204230" cy="802819"/>
      </dsp:txXfrm>
    </dsp:sp>
    <dsp:sp modelId="{6EFFBF58-FEAC-4AFD-ACC6-46EAFEE8789A}">
      <dsp:nvSpPr>
        <dsp:cNvPr id="0" name=""/>
        <dsp:cNvSpPr/>
      </dsp:nvSpPr>
      <dsp:spPr>
        <a:xfrm>
          <a:off x="4713" y="2467269"/>
          <a:ext cx="2418131" cy="967252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20320" rIns="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Mar-Apr</a:t>
          </a:r>
          <a:endParaRPr lang="en-PK" sz="3200" kern="1200" dirty="0"/>
        </a:p>
      </dsp:txBody>
      <dsp:txXfrm>
        <a:off x="488339" y="2467269"/>
        <a:ext cx="1450879" cy="967252"/>
      </dsp:txXfrm>
    </dsp:sp>
    <dsp:sp modelId="{CB25F4DF-12F1-4827-83DB-0559BCFCE89F}">
      <dsp:nvSpPr>
        <dsp:cNvPr id="0" name=""/>
        <dsp:cNvSpPr/>
      </dsp:nvSpPr>
      <dsp:spPr>
        <a:xfrm>
          <a:off x="2108488" y="2549485"/>
          <a:ext cx="2007049" cy="802819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Automated Document Generator (UI + flow)</a:t>
          </a:r>
          <a:endParaRPr lang="en-PK" sz="1100" kern="1200" dirty="0"/>
        </a:p>
      </dsp:txBody>
      <dsp:txXfrm>
        <a:off x="2509898" y="2549485"/>
        <a:ext cx="1204230" cy="802819"/>
      </dsp:txXfrm>
    </dsp:sp>
    <dsp:sp modelId="{78217155-B8BC-431C-AE6F-F5D6DD58E61C}">
      <dsp:nvSpPr>
        <dsp:cNvPr id="0" name=""/>
        <dsp:cNvSpPr/>
      </dsp:nvSpPr>
      <dsp:spPr>
        <a:xfrm>
          <a:off x="3834550" y="2549485"/>
          <a:ext cx="2007049" cy="802819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Backend Optimizations + Data Security Module</a:t>
          </a:r>
          <a:endParaRPr lang="en-PK" sz="1100" kern="1200" dirty="0"/>
        </a:p>
      </dsp:txBody>
      <dsp:txXfrm>
        <a:off x="4235960" y="2549485"/>
        <a:ext cx="1204230" cy="802819"/>
      </dsp:txXfrm>
    </dsp:sp>
    <dsp:sp modelId="{2D0C259F-C644-42C2-A2D3-07A155D712AC}">
      <dsp:nvSpPr>
        <dsp:cNvPr id="0" name=""/>
        <dsp:cNvSpPr/>
      </dsp:nvSpPr>
      <dsp:spPr>
        <a:xfrm>
          <a:off x="5560613" y="2549485"/>
          <a:ext cx="2007049" cy="802819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Admin Dashboard </a:t>
          </a:r>
          <a:r>
            <a:rPr lang="en-US" sz="1100" u="none" kern="1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Implementation</a:t>
          </a:r>
          <a:endParaRPr lang="en-PK" sz="1100" u="none" kern="1200" dirty="0"/>
        </a:p>
      </dsp:txBody>
      <dsp:txXfrm>
        <a:off x="5962023" y="2549485"/>
        <a:ext cx="1204230" cy="802819"/>
      </dsp:txXfrm>
    </dsp:sp>
    <dsp:sp modelId="{99AFA6BE-04B5-4CB4-BD2D-9905DD6B9F88}">
      <dsp:nvSpPr>
        <dsp:cNvPr id="0" name=""/>
        <dsp:cNvSpPr/>
      </dsp:nvSpPr>
      <dsp:spPr>
        <a:xfrm>
          <a:off x="4713" y="3569937"/>
          <a:ext cx="2418131" cy="967252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May-Jun</a:t>
          </a:r>
          <a:endParaRPr lang="en-PK" sz="3200" u="none" kern="1200" dirty="0"/>
        </a:p>
      </dsp:txBody>
      <dsp:txXfrm>
        <a:off x="488339" y="3569937"/>
        <a:ext cx="1450879" cy="967252"/>
      </dsp:txXfrm>
    </dsp:sp>
    <dsp:sp modelId="{B0696BBD-1927-47D8-BAE0-FF7EACFE62A9}">
      <dsp:nvSpPr>
        <dsp:cNvPr id="0" name=""/>
        <dsp:cNvSpPr/>
      </dsp:nvSpPr>
      <dsp:spPr>
        <a:xfrm>
          <a:off x="2108488" y="3652153"/>
          <a:ext cx="2007049" cy="802819"/>
        </a:xfrm>
        <a:prstGeom prst="chevron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Frontend Enhancements &amp; User Profile Management</a:t>
          </a:r>
          <a:endParaRPr lang="en-PK" sz="1100" kern="1200" dirty="0"/>
        </a:p>
      </dsp:txBody>
      <dsp:txXfrm>
        <a:off x="2509898" y="3652153"/>
        <a:ext cx="1204230" cy="802819"/>
      </dsp:txXfrm>
    </dsp:sp>
    <dsp:sp modelId="{2244F112-6F64-4697-A29E-5FED0B99264C}">
      <dsp:nvSpPr>
        <dsp:cNvPr id="0" name=""/>
        <dsp:cNvSpPr/>
      </dsp:nvSpPr>
      <dsp:spPr>
        <a:xfrm>
          <a:off x="3834550" y="3652153"/>
          <a:ext cx="2007049" cy="802819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Lawyer Recommendation Engine</a:t>
          </a:r>
          <a:endParaRPr lang="en-PK" sz="1100" kern="1200" dirty="0"/>
        </a:p>
      </dsp:txBody>
      <dsp:txXfrm>
        <a:off x="4235960" y="3652153"/>
        <a:ext cx="1204230" cy="802819"/>
      </dsp:txXfrm>
    </dsp:sp>
    <dsp:sp modelId="{D6FEF15E-DFB3-48AC-B453-82B4D5170BCE}">
      <dsp:nvSpPr>
        <dsp:cNvPr id="0" name=""/>
        <dsp:cNvSpPr/>
      </dsp:nvSpPr>
      <dsp:spPr>
        <a:xfrm>
          <a:off x="5560613" y="3652153"/>
          <a:ext cx="2007049" cy="802819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rPr>
            <a:t>Payments &amp; Billing System Integration</a:t>
          </a:r>
          <a:endParaRPr lang="en-PK" sz="1100" u="none" kern="1200" dirty="0"/>
        </a:p>
      </dsp:txBody>
      <dsp:txXfrm>
        <a:off x="5962023" y="3652153"/>
        <a:ext cx="1204230" cy="802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9965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72814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092120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401936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" name="Google Shape;1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2" name="Google Shape;19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8" name="Google Shape;19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4" name="Google Shape;2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" descr="Riphah.jpg"/>
          <p:cNvPicPr preferRelativeResize="0"/>
          <p:nvPr/>
        </p:nvPicPr>
        <p:blipFill rotWithShape="1">
          <a:blip r:embed="rId4">
            <a:alphaModFix/>
          </a:blip>
          <a:srcRect l="3033" t="4065" r="6926" b="4925"/>
          <a:stretch/>
        </p:blipFill>
        <p:spPr>
          <a:xfrm>
            <a:off x="7628965" y="1026459"/>
            <a:ext cx="9906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2E37C12B-CB9F-4BCE-A583-C36C5A4B5461}"/>
              </a:ext>
            </a:extLst>
          </p:cNvPr>
          <p:cNvSpPr/>
          <p:nvPr/>
        </p:nvSpPr>
        <p:spPr>
          <a:xfrm>
            <a:off x="2866949" y="1768763"/>
            <a:ext cx="3695746" cy="2605728"/>
          </a:xfrm>
          <a:custGeom>
            <a:avLst/>
            <a:gdLst/>
            <a:ahLst/>
            <a:cxnLst/>
            <a:rect l="l" t="t" r="r" b="b"/>
            <a:pathLst>
              <a:path w="3942129" h="2779443">
                <a:moveTo>
                  <a:pt x="0" y="0"/>
                </a:moveTo>
                <a:lnTo>
                  <a:pt x="3942129" y="0"/>
                </a:lnTo>
                <a:lnTo>
                  <a:pt x="3942129" y="2779443"/>
                </a:lnTo>
                <a:lnTo>
                  <a:pt x="0" y="2779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1831"/>
            </a:stretch>
          </a:blipFill>
        </p:spPr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E4C8CC36-A83A-4603-8D39-9C6513469BCB}"/>
              </a:ext>
            </a:extLst>
          </p:cNvPr>
          <p:cNvSpPr/>
          <p:nvPr/>
        </p:nvSpPr>
        <p:spPr>
          <a:xfrm>
            <a:off x="2227225" y="4179475"/>
            <a:ext cx="4975195" cy="1104779"/>
          </a:xfrm>
          <a:custGeom>
            <a:avLst/>
            <a:gdLst/>
            <a:ahLst/>
            <a:cxnLst/>
            <a:rect l="l" t="t" r="r" b="b"/>
            <a:pathLst>
              <a:path w="5306875" h="1178431">
                <a:moveTo>
                  <a:pt x="0" y="0"/>
                </a:moveTo>
                <a:lnTo>
                  <a:pt x="5306876" y="0"/>
                </a:lnTo>
                <a:lnTo>
                  <a:pt x="5306876" y="1178431"/>
                </a:lnTo>
                <a:lnTo>
                  <a:pt x="0" y="11784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9601" r="-2042" b="-329929"/>
            </a:stretch>
          </a:blipFill>
        </p:spPr>
        <p:txBody>
          <a:bodyPr/>
          <a:lstStyle/>
          <a:p>
            <a:pPr algn="ctr"/>
            <a:endParaRPr lang="en-PK" sz="1313" dirty="0"/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ED7C33C7-DD6B-4FF2-944B-ADECA52B82BC}"/>
              </a:ext>
            </a:extLst>
          </p:cNvPr>
          <p:cNvSpPr txBox="1"/>
          <p:nvPr/>
        </p:nvSpPr>
        <p:spPr>
          <a:xfrm>
            <a:off x="2315192" y="5662038"/>
            <a:ext cx="4799260" cy="363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7"/>
              </a:lnSpc>
              <a:spcBef>
                <a:spcPct val="0"/>
              </a:spcBef>
            </a:pPr>
            <a:r>
              <a:rPr lang="en-US" sz="2237" spc="218" dirty="0">
                <a:latin typeface="Aptos"/>
                <a:ea typeface="Aptos"/>
                <a:cs typeface="Aptos"/>
                <a:sym typeface="Aptos"/>
              </a:rPr>
              <a:t>FINAL YEAR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93213" y="2306734"/>
            <a:ext cx="9330428" cy="1798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9"/>
              </a:lnSpc>
            </a:pPr>
            <a:r>
              <a:rPr lang="en-US" sz="2170" spc="19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HAROON 45669</a:t>
            </a:r>
          </a:p>
          <a:p>
            <a:pPr algn="ctr">
              <a:lnSpc>
                <a:spcPts val="3039"/>
              </a:lnSpc>
            </a:pPr>
            <a:r>
              <a:rPr lang="en-US" sz="2170" spc="19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SAMEER 47145</a:t>
            </a:r>
          </a:p>
          <a:p>
            <a:pPr algn="ctr">
              <a:lnSpc>
                <a:spcPts val="3039"/>
              </a:lnSpc>
            </a:pPr>
            <a:r>
              <a:rPr lang="en-US" sz="2170" spc="19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SUDAIS 46274</a:t>
            </a:r>
          </a:p>
          <a:p>
            <a:pPr algn="ctr">
              <a:lnSpc>
                <a:spcPts val="3039"/>
              </a:lnSpc>
            </a:pPr>
            <a:r>
              <a:rPr lang="en-US" sz="2170" b="1" spc="190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BS COMPUTER SCIENCE</a:t>
            </a:r>
          </a:p>
          <a:p>
            <a:pPr algn="ctr">
              <a:lnSpc>
                <a:spcPts val="2425"/>
              </a:lnSpc>
              <a:spcBef>
                <a:spcPct val="0"/>
              </a:spcBef>
            </a:pPr>
            <a:r>
              <a:rPr lang="en-US" sz="969" b="1" spc="85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 BATCH OF 2022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2114" y="4554823"/>
            <a:ext cx="6859772" cy="751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4"/>
              </a:lnSpc>
              <a:spcBef>
                <a:spcPct val="0"/>
              </a:spcBef>
            </a:pPr>
            <a:r>
              <a:rPr lang="en-US" sz="2174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SUPERVISED BY: Sir Hassaan Siddique</a:t>
            </a:r>
          </a:p>
          <a:p>
            <a:pPr algn="ctr">
              <a:lnSpc>
                <a:spcPts val="3044"/>
              </a:lnSpc>
              <a:spcBef>
                <a:spcPct val="0"/>
              </a:spcBef>
            </a:pPr>
            <a:r>
              <a:rPr lang="en-US" sz="2174" dirty="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CO-SUPERVISED BY: Dr. Mansoor Alam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334745" y="685800"/>
            <a:ext cx="4474511" cy="691147"/>
            <a:chOff x="0" y="0"/>
            <a:chExt cx="6363749" cy="982964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6363749" cy="982964"/>
              <a:chOff x="0" y="0"/>
              <a:chExt cx="1781045" cy="27510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781045" cy="275106"/>
              </a:xfrm>
              <a:custGeom>
                <a:avLst/>
                <a:gdLst/>
                <a:ahLst/>
                <a:cxnLst/>
                <a:rect l="l" t="t" r="r" b="b"/>
                <a:pathLst>
                  <a:path w="1781045" h="275106">
                    <a:moveTo>
                      <a:pt x="0" y="0"/>
                    </a:moveTo>
                    <a:lnTo>
                      <a:pt x="1781045" y="0"/>
                    </a:lnTo>
                    <a:lnTo>
                      <a:pt x="1781045" y="275106"/>
                    </a:lnTo>
                    <a:lnTo>
                      <a:pt x="0" y="275106"/>
                    </a:lnTo>
                    <a:close/>
                  </a:path>
                </a:pathLst>
              </a:custGeom>
              <a:solidFill>
                <a:srgbClr val="082B3D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57150"/>
                <a:ext cx="1781045" cy="332256"/>
              </a:xfrm>
              <a:prstGeom prst="rect">
                <a:avLst/>
              </a:prstGeom>
            </p:spPr>
            <p:txBody>
              <a:bodyPr lIns="47625" tIns="47625" rIns="47625" bIns="47625" rtlCol="0" anchor="ctr"/>
              <a:lstStyle/>
              <a:p>
                <a:pPr algn="ctr">
                  <a:lnSpc>
                    <a:spcPts val="3022"/>
                  </a:lnSpc>
                </a:pPr>
                <a:endParaRPr sz="1313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22502" y="120028"/>
              <a:ext cx="5918741" cy="6502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38"/>
                </a:lnSpc>
                <a:spcBef>
                  <a:spcPct val="0"/>
                </a:spcBef>
              </a:pPr>
              <a:r>
                <a:rPr lang="en-US" sz="2813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PROJECT TEAM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Table of Content</a:t>
            </a:r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Introduction and Background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Literature Review and Summary Table</a:t>
            </a:r>
            <a:endParaRPr sz="2800"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Problem Statement</a:t>
            </a:r>
            <a:endParaRPr sz="2800"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Methodology</a:t>
            </a:r>
            <a:endParaRPr sz="2800"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Progress Report Summary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 dirty="0"/>
              <a:t>Requirements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 dirty="0"/>
              <a:t>Software System (Design + Implementation + Testing)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 dirty="0"/>
              <a:t>Endeavour (Team)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Next Steps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Prototype / Report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INTRODUCTION AND BACKGROUND 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94848" y="1204764"/>
            <a:ext cx="5090111" cy="4808144"/>
            <a:chOff x="0" y="0"/>
            <a:chExt cx="7239270" cy="68382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39270" cy="6838249"/>
            </a:xfrm>
            <a:custGeom>
              <a:avLst/>
              <a:gdLst/>
              <a:ahLst/>
              <a:cxnLst/>
              <a:rect l="l" t="t" r="r" b="b"/>
              <a:pathLst>
                <a:path w="7239270" h="6838249">
                  <a:moveTo>
                    <a:pt x="0" y="0"/>
                  </a:moveTo>
                  <a:lnTo>
                    <a:pt x="7239270" y="0"/>
                  </a:lnTo>
                  <a:lnTo>
                    <a:pt x="7239270" y="6838249"/>
                  </a:lnTo>
                  <a:lnTo>
                    <a:pt x="0" y="68382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7239270" cy="68668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18160" lvl="1" indent="-259080">
                <a:lnSpc>
                  <a:spcPts val="3143"/>
                </a:lnSpc>
                <a:buFont typeface="Arial"/>
                <a:buChar char="•"/>
              </a:pPr>
              <a:r>
                <a:rPr lang="en-US" sz="2399" dirty="0">
                  <a:latin typeface="Lato"/>
                  <a:ea typeface="Lato"/>
                  <a:cs typeface="Lato"/>
                  <a:sym typeface="Lato"/>
                </a:rPr>
                <a:t>Pakistan’s legal system is </a:t>
              </a:r>
              <a:r>
                <a:rPr lang="en-US" sz="2399" b="1" dirty="0">
                  <a:latin typeface="Lato Bold"/>
                  <a:ea typeface="Lato Bold"/>
                  <a:cs typeface="Lato Bold"/>
                  <a:sym typeface="Lato Bold"/>
                </a:rPr>
                <a:t>complex</a:t>
              </a:r>
              <a:r>
                <a:rPr lang="en-US" sz="2399" dirty="0">
                  <a:latin typeface="Lato"/>
                  <a:ea typeface="Lato"/>
                  <a:cs typeface="Lato"/>
                  <a:sym typeface="Lato"/>
                </a:rPr>
                <a:t>, </a:t>
              </a:r>
              <a:r>
                <a:rPr lang="en-US" sz="2399" b="1" dirty="0">
                  <a:latin typeface="Lato Bold"/>
                  <a:ea typeface="Lato Bold"/>
                  <a:cs typeface="Lato Bold"/>
                  <a:sym typeface="Lato Bold"/>
                </a:rPr>
                <a:t>time-consuming</a:t>
              </a:r>
              <a:r>
                <a:rPr lang="en-US" sz="2399" dirty="0">
                  <a:latin typeface="Lato"/>
                  <a:ea typeface="Lato"/>
                  <a:cs typeface="Lato"/>
                  <a:sym typeface="Lato"/>
                </a:rPr>
                <a:t>, and </a:t>
              </a:r>
              <a:r>
                <a:rPr lang="en-US" sz="2399" b="1" dirty="0">
                  <a:latin typeface="Lato Bold"/>
                  <a:ea typeface="Lato Bold"/>
                  <a:cs typeface="Lato Bold"/>
                  <a:sym typeface="Lato Bold"/>
                </a:rPr>
                <a:t>costly</a:t>
              </a:r>
            </a:p>
            <a:p>
              <a:pPr marL="518160" lvl="1" indent="-259080">
                <a:lnSpc>
                  <a:spcPts val="3143"/>
                </a:lnSpc>
                <a:buFont typeface="Arial"/>
                <a:buChar char="•"/>
              </a:pPr>
              <a:r>
                <a:rPr lang="en-US" sz="2399" dirty="0">
                  <a:latin typeface="Lato"/>
                  <a:ea typeface="Lato"/>
                  <a:cs typeface="Lato"/>
                  <a:sym typeface="Lato"/>
                </a:rPr>
                <a:t>Citizens lack awareness of </a:t>
              </a:r>
              <a:r>
                <a:rPr lang="en-US" sz="2399" b="1" dirty="0">
                  <a:latin typeface="Lato Bold"/>
                  <a:ea typeface="Lato Bold"/>
                  <a:cs typeface="Lato Bold"/>
                  <a:sym typeface="Lato Bold"/>
                </a:rPr>
                <a:t>rights</a:t>
              </a:r>
              <a:r>
                <a:rPr lang="en-US" sz="2399" dirty="0">
                  <a:latin typeface="Lato"/>
                  <a:ea typeface="Lato"/>
                  <a:cs typeface="Lato"/>
                  <a:sym typeface="Lato"/>
                </a:rPr>
                <a:t>, leading to </a:t>
              </a:r>
              <a:r>
                <a:rPr lang="en-US" sz="2399" b="1" dirty="0">
                  <a:latin typeface="Lato Bold"/>
                  <a:ea typeface="Lato Bold"/>
                  <a:cs typeface="Lato Bold"/>
                  <a:sym typeface="Lato Bold"/>
                </a:rPr>
                <a:t>exploitation</a:t>
              </a:r>
            </a:p>
            <a:p>
              <a:pPr marL="518160" lvl="1" indent="-259080">
                <a:lnSpc>
                  <a:spcPts val="3143"/>
                </a:lnSpc>
                <a:buFont typeface="Arial"/>
                <a:buChar char="•"/>
              </a:pPr>
              <a:r>
                <a:rPr lang="en-US" sz="2399" dirty="0">
                  <a:latin typeface="Lato"/>
                  <a:ea typeface="Lato"/>
                  <a:cs typeface="Lato"/>
                  <a:sym typeface="Lato"/>
                </a:rPr>
                <a:t>Unlike healthcare, transport, and commerce, the </a:t>
              </a:r>
              <a:r>
                <a:rPr lang="en-US" sz="2399" b="1" dirty="0">
                  <a:latin typeface="Lato Bold"/>
                  <a:ea typeface="Lato Bold"/>
                  <a:cs typeface="Lato Bold"/>
                  <a:sym typeface="Lato Bold"/>
                </a:rPr>
                <a:t>legal </a:t>
              </a:r>
              <a:r>
                <a:rPr lang="en-US" sz="2399" dirty="0">
                  <a:latin typeface="Lato"/>
                  <a:ea typeface="Lato"/>
                  <a:cs typeface="Lato"/>
                  <a:sym typeface="Lato"/>
                </a:rPr>
                <a:t>sector is </a:t>
              </a:r>
              <a:r>
                <a:rPr lang="en-US" sz="2399" b="1" dirty="0">
                  <a:latin typeface="Lato Bold"/>
                  <a:ea typeface="Lato Bold"/>
                  <a:cs typeface="Lato Bold"/>
                  <a:sym typeface="Lato Bold"/>
                </a:rPr>
                <a:t>underserved</a:t>
              </a:r>
            </a:p>
            <a:p>
              <a:pPr marL="518159" lvl="1" indent="-259080">
                <a:lnSpc>
                  <a:spcPts val="3143"/>
                </a:lnSpc>
                <a:buFont typeface="Arial"/>
                <a:buChar char="•"/>
              </a:pPr>
              <a:r>
                <a:rPr lang="en-US" sz="2399" dirty="0">
                  <a:latin typeface="Lato"/>
                  <a:ea typeface="Lato"/>
                  <a:cs typeface="Lato"/>
                  <a:sym typeface="Lato"/>
                </a:rPr>
                <a:t>Limited </a:t>
              </a:r>
              <a:r>
                <a:rPr lang="en-US" sz="2399" b="1" dirty="0">
                  <a:latin typeface="Lato Bold"/>
                  <a:ea typeface="Lato Bold"/>
                  <a:cs typeface="Lato Bold"/>
                  <a:sym typeface="Lato Bold"/>
                </a:rPr>
                <a:t>digitization </a:t>
              </a:r>
              <a:r>
                <a:rPr lang="en-US" sz="2399" dirty="0">
                  <a:latin typeface="Lato"/>
                  <a:ea typeface="Lato"/>
                  <a:cs typeface="Lato"/>
                  <a:sym typeface="Lato"/>
                </a:rPr>
                <a:t>of legal </a:t>
              </a:r>
              <a:r>
                <a:rPr lang="en-US" sz="2399" b="1" dirty="0">
                  <a:latin typeface="Lato Bold"/>
                  <a:ea typeface="Lato Bold"/>
                  <a:cs typeface="Lato Bold"/>
                  <a:sym typeface="Lato Bold"/>
                </a:rPr>
                <a:t>resources </a:t>
              </a:r>
              <a:r>
                <a:rPr lang="en-US" sz="2399" dirty="0">
                  <a:latin typeface="Lato"/>
                  <a:ea typeface="Lato"/>
                  <a:cs typeface="Lato"/>
                  <a:sym typeface="Lato"/>
                </a:rPr>
                <a:t>in Pakistan</a:t>
              </a:r>
            </a:p>
            <a:p>
              <a:pPr marL="518160" lvl="1" indent="-259080">
                <a:lnSpc>
                  <a:spcPts val="3143"/>
                </a:lnSpc>
                <a:buFont typeface="Arial"/>
                <a:buChar char="•"/>
              </a:pPr>
              <a:r>
                <a:rPr lang="en-US" sz="2399" dirty="0">
                  <a:latin typeface="Lato"/>
                  <a:ea typeface="Lato"/>
                  <a:cs typeface="Lato"/>
                  <a:sym typeface="Lato"/>
                </a:rPr>
                <a:t>Existing platforms mainly </a:t>
              </a:r>
              <a:r>
                <a:rPr lang="en-US" sz="2399" b="1" dirty="0">
                  <a:latin typeface="Lato Bold"/>
                  <a:ea typeface="Lato Bold"/>
                  <a:cs typeface="Lato Bold"/>
                  <a:sym typeface="Lato Bold"/>
                </a:rPr>
                <a:t>serve </a:t>
              </a:r>
              <a:r>
                <a:rPr lang="en-US" sz="2399" dirty="0">
                  <a:latin typeface="Lato"/>
                  <a:ea typeface="Lato"/>
                  <a:cs typeface="Lato"/>
                  <a:sym typeface="Lato"/>
                </a:rPr>
                <a:t>lawyers, not ordinary </a:t>
              </a:r>
              <a:r>
                <a:rPr lang="en-US" sz="2399" b="1" dirty="0">
                  <a:latin typeface="Lato Bold"/>
                  <a:ea typeface="Lato Bold"/>
                  <a:cs typeface="Lato Bold"/>
                  <a:sym typeface="Lato Bold"/>
                </a:rPr>
                <a:t>citizens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334745" y="340227"/>
            <a:ext cx="4474511" cy="691147"/>
            <a:chOff x="0" y="0"/>
            <a:chExt cx="6363749" cy="98296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6363749" cy="982964"/>
              <a:chOff x="0" y="0"/>
              <a:chExt cx="1781045" cy="27510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781045" cy="275106"/>
              </a:xfrm>
              <a:custGeom>
                <a:avLst/>
                <a:gdLst/>
                <a:ahLst/>
                <a:cxnLst/>
                <a:rect l="l" t="t" r="r" b="b"/>
                <a:pathLst>
                  <a:path w="1781045" h="275106">
                    <a:moveTo>
                      <a:pt x="0" y="0"/>
                    </a:moveTo>
                    <a:lnTo>
                      <a:pt x="1781045" y="0"/>
                    </a:lnTo>
                    <a:lnTo>
                      <a:pt x="1781045" y="275106"/>
                    </a:lnTo>
                    <a:lnTo>
                      <a:pt x="0" y="275106"/>
                    </a:lnTo>
                    <a:close/>
                  </a:path>
                </a:pathLst>
              </a:custGeom>
              <a:solidFill>
                <a:srgbClr val="082B3D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1781045" cy="332256"/>
              </a:xfrm>
              <a:prstGeom prst="rect">
                <a:avLst/>
              </a:prstGeom>
            </p:spPr>
            <p:txBody>
              <a:bodyPr lIns="47625" tIns="47625" rIns="47625" bIns="47625" rtlCol="0" anchor="ctr"/>
              <a:lstStyle/>
              <a:p>
                <a:pPr algn="ctr">
                  <a:lnSpc>
                    <a:spcPts val="3022"/>
                  </a:lnSpc>
                </a:pPr>
                <a:endParaRPr sz="1313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222502" y="120028"/>
              <a:ext cx="5918741" cy="6427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38"/>
                </a:lnSpc>
                <a:spcBef>
                  <a:spcPct val="0"/>
                </a:spcBef>
              </a:pPr>
              <a:r>
                <a:rPr lang="en-US" sz="2813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INTRODUCTION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ts val="4799"/>
              </a:lnSpc>
            </a:pPr>
            <a:r>
              <a:rPr lang="en-US" sz="3999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LITERATURE REVIEW &amp;</a:t>
            </a:r>
            <a:br>
              <a:rPr lang="en-US" sz="3999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</a:br>
            <a:r>
              <a:rPr lang="en-US" sz="3999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Market Survey</a:t>
            </a:r>
          </a:p>
        </p:txBody>
      </p:sp>
    </p:spTree>
    <p:extLst>
      <p:ext uri="{BB962C8B-B14F-4D97-AF65-F5344CB8AC3E}">
        <p14:creationId xmlns:p14="http://schemas.microsoft.com/office/powerpoint/2010/main" val="2410404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57CED3F-D9F7-4955-BD20-408624C43A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674323"/>
              </p:ext>
            </p:extLst>
          </p:nvPr>
        </p:nvGraphicFramePr>
        <p:xfrm>
          <a:off x="457200" y="934822"/>
          <a:ext cx="8229600" cy="58303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11123966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745277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49467252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9354916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6498468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59520311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4959288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99515491"/>
                    </a:ext>
                  </a:extLst>
                </a:gridCol>
              </a:tblGrid>
              <a:tr h="1779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/ Domain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Used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/ Models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Results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extLst>
                  <a:ext uri="{0D108BD9-81ED-4DB2-BD59-A6C34878D82A}">
                    <a16:rowId xmlns:a16="http://schemas.microsoft.com/office/drawing/2014/main" val="1052584345"/>
                  </a:ext>
                </a:extLst>
              </a:tr>
              <a:tr h="109522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Exploring the State of the Art in Legal QA Systems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Legal Question Answering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NLP, Deep Learning, Transformer-based QA models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Legal QA datasets, Deep Learning models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accuracy in answering legal questions using deep learning approaches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Research-focused, lacks deployable system, no domain-specific focus, no document generation or lawyer interaction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extLst>
                  <a:ext uri="{0D108BD9-81ED-4DB2-BD59-A6C34878D82A}">
                    <a16:rowId xmlns:a16="http://schemas.microsoft.com/office/drawing/2014/main" val="1744094636"/>
                  </a:ext>
                </a:extLst>
              </a:tr>
              <a:tr h="93724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Legal Document Generation: Harnessing LLMs for Diverse Legal Workflows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Legal Document Automation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LLMs, Prompt Engineering, Multi-Agent System, Templates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Language Models, Python libraries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reduction in document preparation time and improved consistency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Template dependency, limited flexibility, mainly enterprise-focused, not user-centric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extLst>
                  <a:ext uri="{0D108BD9-81ED-4DB2-BD59-A6C34878D82A}">
                    <a16:rowId xmlns:a16="http://schemas.microsoft.com/office/drawing/2014/main" val="2078845757"/>
                  </a:ext>
                </a:extLst>
              </a:tr>
              <a:tr h="93724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Legal Assistant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Criminal Law (IPC-based)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AI, NLP, Rule-based structuring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LLM, Flask backend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identification of IPC sections and punishments, improved accessibility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criminal law, no document generation, no lawyer interaction, web-based only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extLst>
                  <a:ext uri="{0D108BD9-81ED-4DB2-BD59-A6C34878D82A}">
                    <a16:rowId xmlns:a16="http://schemas.microsoft.com/office/drawing/2014/main" val="62054011"/>
                  </a:ext>
                </a:extLst>
              </a:tr>
              <a:tr h="93724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LawPal</a:t>
                      </a:r>
                      <a:r>
                        <a:rPr lang="en-PK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RAG-Based System for Legal Accessibility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 Legal Information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Retrieval-Augmented Generation (RAG)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DeepSeek-R1:5B, FAISS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legal accuracy and reduced hallucinations in responses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document generation, no lawyer connect feature, research-oriented, web-based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extLst>
                  <a:ext uri="{0D108BD9-81ED-4DB2-BD59-A6C34878D82A}">
                    <a16:rowId xmlns:a16="http://schemas.microsoft.com/office/drawing/2014/main" val="1187684561"/>
                  </a:ext>
                </a:extLst>
              </a:tr>
              <a:tr h="15691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Seeing Justice Clearly: Handwritten Legal Document Translation with OCR and Vision-Language Models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PK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Legal document digitization, handwritten text translation (Marathi → English)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study of OCR + MT pipelines vs end-to-end Vision-Language Models (</a:t>
                      </a:r>
                      <a:r>
                        <a:rPr lang="en-GB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vLLMs</a:t>
                      </a:r>
                      <a:r>
                        <a:rPr lang="en-GB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Legal datasets, LLM 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OCR: Tesseract,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EasyOCR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PaddleOCR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MT: IndicTrans2, Sarvam-1;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vLLMs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Chitrarth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Maya-8B, Ovis2</a:t>
                      </a:r>
                      <a:r>
                        <a:rPr lang="en-PK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frameworks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 dirty="0"/>
                        <a:t>OCR–MT pipelines achieve higher accuracy; </a:t>
                      </a:r>
                      <a:r>
                        <a:rPr lang="en-GB" sz="1000" dirty="0" err="1"/>
                        <a:t>vLLMs</a:t>
                      </a:r>
                      <a:r>
                        <a:rPr lang="en-GB" sz="1000" dirty="0"/>
                        <a:t> show potential but low reliability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Research-focused; limited dataset size; </a:t>
                      </a:r>
                      <a:r>
                        <a:rPr lang="en-GB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vLLMs</a:t>
                      </a:r>
                      <a:r>
                        <a:rPr lang="en-GB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prone to hallucination; not deployment-ready for real legal use</a:t>
                      </a:r>
                      <a:endParaRPr lang="en-PK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461" marR="0" marT="0" marB="0" anchor="ctr"/>
                </a:tc>
                <a:extLst>
                  <a:ext uri="{0D108BD9-81ED-4DB2-BD59-A6C34878D82A}">
                    <a16:rowId xmlns:a16="http://schemas.microsoft.com/office/drawing/2014/main" val="18937724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8CCF362F-1299-4083-B795-47CFAB9F1FD8}"/>
              </a:ext>
            </a:extLst>
          </p:cNvPr>
          <p:cNvGrpSpPr/>
          <p:nvPr/>
        </p:nvGrpSpPr>
        <p:grpSpPr>
          <a:xfrm>
            <a:off x="2185594" y="107577"/>
            <a:ext cx="4772812" cy="737223"/>
            <a:chOff x="0" y="0"/>
            <a:chExt cx="6363749" cy="98296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72844A9-6BEF-4836-90FD-1B135249775C}"/>
                </a:ext>
              </a:extLst>
            </p:cNvPr>
            <p:cNvGrpSpPr/>
            <p:nvPr/>
          </p:nvGrpSpPr>
          <p:grpSpPr>
            <a:xfrm>
              <a:off x="0" y="0"/>
              <a:ext cx="6363749" cy="982964"/>
              <a:chOff x="0" y="0"/>
              <a:chExt cx="1781045" cy="275106"/>
            </a:xfrm>
          </p:grpSpPr>
          <p:sp>
            <p:nvSpPr>
              <p:cNvPr id="8" name="Freeform 6">
                <a:extLst>
                  <a:ext uri="{FF2B5EF4-FFF2-40B4-BE49-F238E27FC236}">
                    <a16:creationId xmlns:a16="http://schemas.microsoft.com/office/drawing/2014/main" id="{C052CE5E-6818-4EB6-B860-ED614A353C99}"/>
                  </a:ext>
                </a:extLst>
              </p:cNvPr>
              <p:cNvSpPr/>
              <p:nvPr/>
            </p:nvSpPr>
            <p:spPr>
              <a:xfrm>
                <a:off x="0" y="0"/>
                <a:ext cx="1781045" cy="275106"/>
              </a:xfrm>
              <a:custGeom>
                <a:avLst/>
                <a:gdLst/>
                <a:ahLst/>
                <a:cxnLst/>
                <a:rect l="l" t="t" r="r" b="b"/>
                <a:pathLst>
                  <a:path w="1781045" h="275106">
                    <a:moveTo>
                      <a:pt x="0" y="0"/>
                    </a:moveTo>
                    <a:lnTo>
                      <a:pt x="1781045" y="0"/>
                    </a:lnTo>
                    <a:lnTo>
                      <a:pt x="1781045" y="275106"/>
                    </a:lnTo>
                    <a:lnTo>
                      <a:pt x="0" y="275106"/>
                    </a:lnTo>
                    <a:close/>
                  </a:path>
                </a:pathLst>
              </a:custGeom>
              <a:solidFill>
                <a:srgbClr val="082B3D"/>
              </a:solidFill>
            </p:spPr>
          </p:sp>
          <p:sp>
            <p:nvSpPr>
              <p:cNvPr id="9" name="TextBox 7">
                <a:extLst>
                  <a:ext uri="{FF2B5EF4-FFF2-40B4-BE49-F238E27FC236}">
                    <a16:creationId xmlns:a16="http://schemas.microsoft.com/office/drawing/2014/main" id="{494953C7-7430-44D1-9F1B-81FBADD8E3D3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781045" cy="3322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74206120-DBE4-4CEF-8849-B45B0037FFAD}"/>
                </a:ext>
              </a:extLst>
            </p:cNvPr>
            <p:cNvSpPr txBox="1"/>
            <p:nvPr/>
          </p:nvSpPr>
          <p:spPr>
            <a:xfrm>
              <a:off x="222503" y="120029"/>
              <a:ext cx="5918742" cy="647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Literature Review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B44FAC4-A82D-4C6A-8B3C-C8DF183D8EBE}"/>
              </a:ext>
            </a:extLst>
          </p:cNvPr>
          <p:cNvGrpSpPr/>
          <p:nvPr/>
        </p:nvGrpSpPr>
        <p:grpSpPr>
          <a:xfrm>
            <a:off x="2185594" y="107577"/>
            <a:ext cx="4772812" cy="737223"/>
            <a:chOff x="0" y="0"/>
            <a:chExt cx="6363749" cy="98296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B99DB60-F9C2-474B-A91C-0EDE446792BA}"/>
                </a:ext>
              </a:extLst>
            </p:cNvPr>
            <p:cNvGrpSpPr/>
            <p:nvPr/>
          </p:nvGrpSpPr>
          <p:grpSpPr>
            <a:xfrm>
              <a:off x="0" y="0"/>
              <a:ext cx="6363749" cy="982964"/>
              <a:chOff x="0" y="0"/>
              <a:chExt cx="1781045" cy="275106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B33E170E-DF9A-4D27-B762-E88F6486A2AB}"/>
                  </a:ext>
                </a:extLst>
              </p:cNvPr>
              <p:cNvSpPr/>
              <p:nvPr/>
            </p:nvSpPr>
            <p:spPr>
              <a:xfrm>
                <a:off x="0" y="0"/>
                <a:ext cx="1781045" cy="275106"/>
              </a:xfrm>
              <a:custGeom>
                <a:avLst/>
                <a:gdLst/>
                <a:ahLst/>
                <a:cxnLst/>
                <a:rect l="l" t="t" r="r" b="b"/>
                <a:pathLst>
                  <a:path w="1781045" h="275106">
                    <a:moveTo>
                      <a:pt x="0" y="0"/>
                    </a:moveTo>
                    <a:lnTo>
                      <a:pt x="1781045" y="0"/>
                    </a:lnTo>
                    <a:lnTo>
                      <a:pt x="1781045" y="275106"/>
                    </a:lnTo>
                    <a:lnTo>
                      <a:pt x="0" y="275106"/>
                    </a:lnTo>
                    <a:close/>
                  </a:path>
                </a:pathLst>
              </a:custGeom>
              <a:solidFill>
                <a:srgbClr val="082B3D"/>
              </a:solidFill>
            </p:spPr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FECA79-ECF4-4CA2-B12F-6052F6D1CF7E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781045" cy="3322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6" name="TextBox 8">
              <a:extLst>
                <a:ext uri="{FF2B5EF4-FFF2-40B4-BE49-F238E27FC236}">
                  <a16:creationId xmlns:a16="http://schemas.microsoft.com/office/drawing/2014/main" id="{AD9733F9-3002-45AF-B2CC-75895BF2F503}"/>
                </a:ext>
              </a:extLst>
            </p:cNvPr>
            <p:cNvSpPr txBox="1"/>
            <p:nvPr/>
          </p:nvSpPr>
          <p:spPr>
            <a:xfrm>
              <a:off x="222503" y="120029"/>
              <a:ext cx="5918742" cy="647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Market Survey</a:t>
              </a:r>
            </a:p>
          </p:txBody>
        </p:sp>
      </p:grpSp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B6B300C5-2581-42E8-ACEE-A918BF03D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166483"/>
              </p:ext>
            </p:extLst>
          </p:nvPr>
        </p:nvGraphicFramePr>
        <p:xfrm>
          <a:off x="400728" y="1023931"/>
          <a:ext cx="8528118" cy="5187099"/>
        </p:xfrm>
        <a:graphic>
          <a:graphicData uri="http://schemas.openxmlformats.org/drawingml/2006/table">
            <a:tbl>
              <a:tblPr/>
              <a:tblGrid>
                <a:gridCol w="1064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15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54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52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67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48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43391"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 b="1" i="1" dirty="0">
                          <a:solidFill>
                            <a:srgbClr val="FFFFFF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Project / Org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 b="1" i="1">
                          <a:solidFill>
                            <a:srgbClr val="FFFFFF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Target users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 b="1" i="1">
                          <a:solidFill>
                            <a:srgbClr val="FFFFFF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Lawyer connect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 b="1" i="1">
                          <a:solidFill>
                            <a:srgbClr val="FFFFFF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Retrieval-Augmented Generation (RAG) / statute-aware answers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 b="1" i="1">
                          <a:solidFill>
                            <a:srgbClr val="FFFFFF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Urdu &amp; Roman-Urdu support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 b="1" i="1">
                          <a:solidFill>
                            <a:srgbClr val="FFFFFF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Voice &amp; OCR inputs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 b="1" i="1">
                          <a:solidFill>
                            <a:srgbClr val="FFFFFF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Document generation (fillable templates)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 b="1" i="1" dirty="0">
                          <a:solidFill>
                            <a:srgbClr val="FFFFFF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citations shown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3477"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 b="1" i="1" dirty="0" err="1">
                          <a:solidFill>
                            <a:srgbClr val="FFFFFF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VakeelOnline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public (client ↔ lawyers)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Yes, primary feature is connecting clients to lawyers. 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(search/</a:t>
                      </a:r>
                      <a:endParaRPr lang="en-US" sz="1100"/>
                    </a:p>
                    <a:p>
                      <a:pPr algn="ctr">
                        <a:lnSpc>
                          <a:spcPts val="1506"/>
                        </a:lnSpc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marketplace)</a:t>
                      </a:r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Limited (app focused on case matching, language not primary claim) 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(no evidence of per-answer statute provenance)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3477"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 b="1" i="1" dirty="0">
                          <a:solidFill>
                            <a:srgbClr val="FFFFFF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Pakistan Law Bot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public / legal professionals / law students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Some contact/referral features likely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chatbot but RAG not used.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No, only translates output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/ OCR- only paid version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Yes, but limited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0319"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 b="1" i="1" dirty="0">
                          <a:solidFill>
                            <a:srgbClr val="FFFFFF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Pak Legal Database (PLD)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Legal professionals / researchers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(only research tool, not client marketplace)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Yes, Advanced search &amp; research but focused on professional research, not public simplified RAG.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Primarily English/No roman - uses in built google translator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Only offer downloadable docs for professionals, not citizen-ready templates.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 (provides primary sources/judgments) but not simplified citizen-facing answers. 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3477"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 b="1" i="1" dirty="0">
                          <a:solidFill>
                            <a:srgbClr val="FFFFFF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Pakistan Law Site (repositories)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Researchers, students, lawyers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(Only a legal text repositories)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Primarily English/legal language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lang="en-US" sz="110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73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 (source texts) but not presented as simplified answers.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9145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ts val="4799"/>
              </a:lnSpc>
            </a:pPr>
            <a:r>
              <a:rPr lang="en-US" sz="3999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Problem</a:t>
            </a:r>
          </a:p>
        </p:txBody>
      </p:sp>
    </p:spTree>
    <p:extLst>
      <p:ext uri="{BB962C8B-B14F-4D97-AF65-F5344CB8AC3E}">
        <p14:creationId xmlns:p14="http://schemas.microsoft.com/office/powerpoint/2010/main" val="2204094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10800000">
            <a:off x="2653261" y="135604"/>
            <a:ext cx="184679" cy="1181086"/>
          </a:xfrm>
          <a:custGeom>
            <a:avLst/>
            <a:gdLst/>
            <a:ahLst/>
            <a:cxnLst/>
            <a:rect l="l" t="t" r="r" b="b"/>
            <a:pathLst>
              <a:path w="196991" h="1259825">
                <a:moveTo>
                  <a:pt x="0" y="0"/>
                </a:moveTo>
                <a:lnTo>
                  <a:pt x="196991" y="0"/>
                </a:lnTo>
                <a:lnTo>
                  <a:pt x="196991" y="1259825"/>
                </a:lnTo>
                <a:lnTo>
                  <a:pt x="0" y="12598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2475738" y="1008744"/>
            <a:ext cx="1313178" cy="955671"/>
          </a:xfrm>
          <a:custGeom>
            <a:avLst/>
            <a:gdLst/>
            <a:ahLst/>
            <a:cxnLst/>
            <a:rect l="l" t="t" r="r" b="b"/>
            <a:pathLst>
              <a:path w="1400723" h="1019382">
                <a:moveTo>
                  <a:pt x="0" y="0"/>
                </a:moveTo>
                <a:lnTo>
                  <a:pt x="1400723" y="0"/>
                </a:lnTo>
                <a:lnTo>
                  <a:pt x="1400723" y="1019383"/>
                </a:lnTo>
                <a:lnTo>
                  <a:pt x="0" y="10193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2475738" y="2576060"/>
            <a:ext cx="1313178" cy="955671"/>
          </a:xfrm>
          <a:custGeom>
            <a:avLst/>
            <a:gdLst/>
            <a:ahLst/>
            <a:cxnLst/>
            <a:rect l="l" t="t" r="r" b="b"/>
            <a:pathLst>
              <a:path w="1400723" h="1019382">
                <a:moveTo>
                  <a:pt x="0" y="0"/>
                </a:moveTo>
                <a:lnTo>
                  <a:pt x="1400723" y="0"/>
                </a:lnTo>
                <a:lnTo>
                  <a:pt x="1400723" y="1019382"/>
                </a:lnTo>
                <a:lnTo>
                  <a:pt x="0" y="10193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2653262" y="4811536"/>
            <a:ext cx="184679" cy="1181086"/>
          </a:xfrm>
          <a:custGeom>
            <a:avLst/>
            <a:gdLst/>
            <a:ahLst/>
            <a:cxnLst/>
            <a:rect l="l" t="t" r="r" b="b"/>
            <a:pathLst>
              <a:path w="196991" h="1259825">
                <a:moveTo>
                  <a:pt x="0" y="0"/>
                </a:moveTo>
                <a:lnTo>
                  <a:pt x="196991" y="0"/>
                </a:lnTo>
                <a:lnTo>
                  <a:pt x="196991" y="1259825"/>
                </a:lnTo>
                <a:lnTo>
                  <a:pt x="0" y="12598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2474509" y="4177944"/>
            <a:ext cx="1313178" cy="955671"/>
          </a:xfrm>
          <a:custGeom>
            <a:avLst/>
            <a:gdLst/>
            <a:ahLst/>
            <a:cxnLst/>
            <a:rect l="l" t="t" r="r" b="b"/>
            <a:pathLst>
              <a:path w="1400723" h="1019382">
                <a:moveTo>
                  <a:pt x="0" y="0"/>
                </a:moveTo>
                <a:lnTo>
                  <a:pt x="1400723" y="0"/>
                </a:lnTo>
                <a:lnTo>
                  <a:pt x="1400723" y="1019382"/>
                </a:lnTo>
                <a:lnTo>
                  <a:pt x="0" y="10193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flipH="1">
            <a:off x="3602655" y="1486002"/>
            <a:ext cx="419712" cy="3142"/>
          </a:xfrm>
          <a:prstGeom prst="line">
            <a:avLst/>
          </a:prstGeom>
          <a:ln w="28575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 rot="5374268">
            <a:off x="3958513" y="1380776"/>
            <a:ext cx="209840" cy="20984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5626" tIns="25626" rIns="25626" bIns="25626" rtlCol="0" anchor="ctr"/>
            <a:lstStyle/>
            <a:p>
              <a:pPr algn="ctr">
                <a:lnSpc>
                  <a:spcPts val="1577"/>
                </a:lnSpc>
              </a:pPr>
              <a:endParaRPr sz="1313"/>
            </a:p>
          </p:txBody>
        </p:sp>
      </p:grpSp>
      <p:sp>
        <p:nvSpPr>
          <p:cNvPr id="12" name="AutoShape 12"/>
          <p:cNvSpPr/>
          <p:nvPr/>
        </p:nvSpPr>
        <p:spPr>
          <a:xfrm flipH="1">
            <a:off x="3608934" y="3053896"/>
            <a:ext cx="419723" cy="0"/>
          </a:xfrm>
          <a:prstGeom prst="line">
            <a:avLst/>
          </a:prstGeom>
          <a:ln w="28575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 rot="5400000">
            <a:off x="3964804" y="2948977"/>
            <a:ext cx="209840" cy="20984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5B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5626" tIns="25626" rIns="25626" bIns="25626" rtlCol="0" anchor="ctr"/>
            <a:lstStyle/>
            <a:p>
              <a:pPr algn="ctr">
                <a:lnSpc>
                  <a:spcPts val="1577"/>
                </a:lnSpc>
              </a:pPr>
              <a:endParaRPr sz="1313"/>
            </a:p>
          </p:txBody>
        </p:sp>
      </p:grpSp>
      <p:sp>
        <p:nvSpPr>
          <p:cNvPr id="16" name="AutoShape 16"/>
          <p:cNvSpPr/>
          <p:nvPr/>
        </p:nvSpPr>
        <p:spPr>
          <a:xfrm flipH="1">
            <a:off x="3608934" y="4655780"/>
            <a:ext cx="419723" cy="0"/>
          </a:xfrm>
          <a:prstGeom prst="line">
            <a:avLst/>
          </a:prstGeom>
          <a:ln w="28575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 rot="5400000">
            <a:off x="3964804" y="4550861"/>
            <a:ext cx="209840" cy="20984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A7C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5626" tIns="25626" rIns="25626" bIns="25626" rtlCol="0" anchor="ctr"/>
            <a:lstStyle/>
            <a:p>
              <a:pPr algn="ctr">
                <a:lnSpc>
                  <a:spcPts val="1577"/>
                </a:lnSpc>
              </a:pPr>
              <a:endParaRPr sz="1313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95427" y="1564250"/>
            <a:ext cx="2290974" cy="808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341" b="1">
                <a:solidFill>
                  <a:srgbClr val="082B3D"/>
                </a:solidFill>
                <a:latin typeface="Lato Bold"/>
                <a:ea typeface="Lato Bold"/>
                <a:cs typeface="Lato Bold"/>
                <a:sym typeface="Lato Bold"/>
              </a:rPr>
              <a:t>PROBLEM STATEMENT</a:t>
            </a:r>
          </a:p>
        </p:txBody>
      </p:sp>
      <p:sp>
        <p:nvSpPr>
          <p:cNvPr id="21" name="Freeform 21"/>
          <p:cNvSpPr/>
          <p:nvPr/>
        </p:nvSpPr>
        <p:spPr>
          <a:xfrm>
            <a:off x="295427" y="2737261"/>
            <a:ext cx="2129685" cy="1676643"/>
          </a:xfrm>
          <a:custGeom>
            <a:avLst/>
            <a:gdLst/>
            <a:ahLst/>
            <a:cxnLst/>
            <a:rect l="l" t="t" r="r" b="b"/>
            <a:pathLst>
              <a:path w="2271664" h="1788419">
                <a:moveTo>
                  <a:pt x="0" y="0"/>
                </a:moveTo>
                <a:lnTo>
                  <a:pt x="2271664" y="0"/>
                </a:lnTo>
                <a:lnTo>
                  <a:pt x="2271664" y="1788419"/>
                </a:lnTo>
                <a:lnTo>
                  <a:pt x="0" y="17884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4584665" y="721519"/>
            <a:ext cx="3613916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08"/>
              </a:lnSpc>
            </a:pPr>
            <a:r>
              <a:rPr lang="en-US" sz="1908" b="1">
                <a:solidFill>
                  <a:srgbClr val="231F20"/>
                </a:solidFill>
                <a:latin typeface="Lato Bold"/>
                <a:ea typeface="Lato Bold"/>
                <a:cs typeface="Lato Bold"/>
                <a:sym typeface="Lato Bold"/>
              </a:rPr>
              <a:t>Laws = Complex &amp; Costly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84665" y="975990"/>
            <a:ext cx="3997019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67"/>
              </a:lnSpc>
            </a:pPr>
            <a:r>
              <a:rPr lang="en-US" sz="1814" dirty="0">
                <a:latin typeface="Lato"/>
                <a:ea typeface="Lato"/>
                <a:cs typeface="Lato"/>
                <a:sym typeface="Lato"/>
              </a:rPr>
              <a:t>Pakistan’s legal system is complicated, time-consuming, and expensive. Ordinary citizens struggle to understand procedures and often cannot afford professional legal help.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84665" y="2414131"/>
            <a:ext cx="3613916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08"/>
              </a:lnSpc>
            </a:pPr>
            <a:r>
              <a:rPr lang="en-US" sz="1908" b="1">
                <a:solidFill>
                  <a:srgbClr val="231F20"/>
                </a:solidFill>
                <a:latin typeface="Lato Bold"/>
                <a:ea typeface="Lato Bold"/>
                <a:cs typeface="Lato Bold"/>
                <a:sym typeface="Lato Bold"/>
              </a:rPr>
              <a:t>No User-Friendly Legal Assistant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84665" y="2694784"/>
            <a:ext cx="4154474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67"/>
              </a:lnSpc>
            </a:pPr>
            <a:r>
              <a:rPr lang="en-US" sz="1814">
                <a:latin typeface="Lato"/>
                <a:ea typeface="Lato"/>
                <a:cs typeface="Lato"/>
                <a:sym typeface="Lato"/>
              </a:rPr>
              <a:t>Unlike healthcare and transport, the legal sector lacks a simple digital solution. Existing helplines (like Citizen Portal) provide complaints support but no legal interpretation or guidance.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84665" y="4136993"/>
            <a:ext cx="3392938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08"/>
              </a:lnSpc>
            </a:pPr>
            <a:r>
              <a:rPr lang="en-US" sz="1908" b="1">
                <a:solidFill>
                  <a:srgbClr val="231F20"/>
                </a:solidFill>
                <a:latin typeface="Lato Bold"/>
                <a:ea typeface="Lato Bold"/>
                <a:cs typeface="Lato Bold"/>
                <a:sym typeface="Lato Bold"/>
              </a:rPr>
              <a:t>Language &amp; Awareness Barrier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84665" y="4421760"/>
            <a:ext cx="4289614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67"/>
              </a:lnSpc>
            </a:pPr>
            <a:r>
              <a:rPr lang="en-US" sz="1814">
                <a:latin typeface="Lato"/>
                <a:ea typeface="Lato"/>
                <a:cs typeface="Lato"/>
                <a:sym typeface="Lato"/>
              </a:rPr>
              <a:t>Most laws are written in difficult legal English, making them inaccessible for the majority of Pakistanis. There is no platform that explains laws clearly in Urdu or Roman Urdu.</a:t>
            </a:r>
          </a:p>
        </p:txBody>
      </p:sp>
      <p:sp>
        <p:nvSpPr>
          <p:cNvPr id="28" name="Freeform 28"/>
          <p:cNvSpPr/>
          <p:nvPr/>
        </p:nvSpPr>
        <p:spPr>
          <a:xfrm rot="-10800000">
            <a:off x="2653262" y="1860343"/>
            <a:ext cx="184679" cy="1181086"/>
          </a:xfrm>
          <a:custGeom>
            <a:avLst/>
            <a:gdLst/>
            <a:ahLst/>
            <a:cxnLst/>
            <a:rect l="l" t="t" r="r" b="b"/>
            <a:pathLst>
              <a:path w="196991" h="1259825">
                <a:moveTo>
                  <a:pt x="0" y="0"/>
                </a:moveTo>
                <a:lnTo>
                  <a:pt x="196991" y="0"/>
                </a:lnTo>
                <a:lnTo>
                  <a:pt x="196991" y="1259825"/>
                </a:lnTo>
                <a:lnTo>
                  <a:pt x="0" y="12598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-10800000">
            <a:off x="2654491" y="3268537"/>
            <a:ext cx="184679" cy="1181086"/>
          </a:xfrm>
          <a:custGeom>
            <a:avLst/>
            <a:gdLst/>
            <a:ahLst/>
            <a:cxnLst/>
            <a:rect l="l" t="t" r="r" b="b"/>
            <a:pathLst>
              <a:path w="196991" h="1259825">
                <a:moveTo>
                  <a:pt x="0" y="0"/>
                </a:moveTo>
                <a:lnTo>
                  <a:pt x="196991" y="0"/>
                </a:lnTo>
                <a:lnTo>
                  <a:pt x="196991" y="1259825"/>
                </a:lnTo>
                <a:lnTo>
                  <a:pt x="0" y="12598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08024" y="4449743"/>
            <a:ext cx="7600978" cy="1112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99"/>
              </a:lnSpc>
            </a:pPr>
            <a:r>
              <a:rPr lang="en-US" sz="3749" b="1">
                <a:latin typeface="Lato Bold"/>
                <a:ea typeface="Lato Bold"/>
                <a:cs typeface="Lato Bold"/>
                <a:sym typeface="Lato Bold"/>
              </a:rPr>
              <a:t>PROPOSED SOLUTION AND METHODOLOGY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04800" y="785315"/>
            <a:ext cx="8381999" cy="1279477"/>
            <a:chOff x="0" y="0"/>
            <a:chExt cx="11921065" cy="24383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216745" y="812799"/>
              <a:ext cx="11704320" cy="1625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499"/>
                </a:lnSpc>
              </a:pPr>
              <a:r>
                <a:rPr lang="en-US" sz="3749" dirty="0">
                  <a:latin typeface="Lato"/>
                  <a:ea typeface="Lato"/>
                  <a:cs typeface="Lato"/>
                  <a:sym typeface="Lato"/>
                </a:rPr>
                <a:t>We propose </a:t>
              </a:r>
              <a:r>
                <a:rPr lang="en-US" sz="3749" b="1" dirty="0">
                  <a:latin typeface="Lato Bold"/>
                  <a:ea typeface="Lato Bold"/>
                  <a:cs typeface="Lato Bold"/>
                  <a:sym typeface="Lato Bold"/>
                </a:rPr>
                <a:t>LegalMate.pk</a:t>
              </a:r>
            </a:p>
          </p:txBody>
        </p:sp>
      </p:grpSp>
      <p:sp>
        <p:nvSpPr>
          <p:cNvPr id="16" name="Freeform 6">
            <a:extLst>
              <a:ext uri="{FF2B5EF4-FFF2-40B4-BE49-F238E27FC236}">
                <a16:creationId xmlns:a16="http://schemas.microsoft.com/office/drawing/2014/main" id="{A2902903-8A25-4EDA-AA53-18F8A0ED93C5}"/>
              </a:ext>
            </a:extLst>
          </p:cNvPr>
          <p:cNvSpPr/>
          <p:nvPr/>
        </p:nvSpPr>
        <p:spPr>
          <a:xfrm>
            <a:off x="2453013" y="2159834"/>
            <a:ext cx="4237973" cy="3022426"/>
          </a:xfrm>
          <a:custGeom>
            <a:avLst/>
            <a:gdLst/>
            <a:ahLst/>
            <a:cxnLst/>
            <a:rect l="l" t="t" r="r" b="b"/>
            <a:pathLst>
              <a:path w="4520504" h="3223921">
                <a:moveTo>
                  <a:pt x="0" y="0"/>
                </a:moveTo>
                <a:lnTo>
                  <a:pt x="4520504" y="0"/>
                </a:lnTo>
                <a:lnTo>
                  <a:pt x="4520504" y="3223922"/>
                </a:lnTo>
                <a:lnTo>
                  <a:pt x="0" y="32239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0217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0CEFD3-E9B4-411B-9F4F-56C39F87795F}"/>
              </a:ext>
            </a:extLst>
          </p:cNvPr>
          <p:cNvSpPr txBox="1"/>
          <p:nvPr/>
        </p:nvSpPr>
        <p:spPr>
          <a:xfrm>
            <a:off x="304800" y="1434064"/>
            <a:ext cx="8382000" cy="463862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Uses </a:t>
            </a:r>
            <a:r>
              <a:rPr lang="en-GB" sz="2400" b="1" dirty="0"/>
              <a:t>AI </a:t>
            </a:r>
            <a:r>
              <a:rPr lang="en-GB" sz="2400" dirty="0"/>
              <a:t>to understand legal queries and provide simplified legal </a:t>
            </a:r>
            <a:r>
              <a:rPr lang="en-GB" sz="2400" b="1" dirty="0"/>
              <a:t>guidance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/>
              <a:t>Automatically </a:t>
            </a:r>
            <a:r>
              <a:rPr lang="en-GB" sz="2400" dirty="0"/>
              <a:t>generates basic legal </a:t>
            </a:r>
            <a:r>
              <a:rPr lang="en-GB" sz="2400" b="1" dirty="0"/>
              <a:t>documents</a:t>
            </a:r>
            <a:r>
              <a:rPr lang="en-GB" sz="2400" dirty="0"/>
              <a:t> using AI models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/>
              <a:t>Supports </a:t>
            </a:r>
            <a:r>
              <a:rPr lang="en-GB" sz="2400" dirty="0"/>
              <a:t>text, voice, and OCR inputs for easy access to legal help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Makes </a:t>
            </a:r>
            <a:r>
              <a:rPr lang="en-GB" sz="2400" b="1" dirty="0"/>
              <a:t>lawyer connection </a:t>
            </a:r>
            <a:r>
              <a:rPr lang="en-GB" sz="2400" dirty="0"/>
              <a:t>easier by guiding users to relevant legal assistance</a:t>
            </a:r>
            <a:endParaRPr lang="en-PK" sz="2400" dirty="0"/>
          </a:p>
        </p:txBody>
      </p:sp>
      <p:grpSp>
        <p:nvGrpSpPr>
          <p:cNvPr id="3" name="Group 61">
            <a:extLst>
              <a:ext uri="{FF2B5EF4-FFF2-40B4-BE49-F238E27FC236}">
                <a16:creationId xmlns:a16="http://schemas.microsoft.com/office/drawing/2014/main" id="{41F8B262-AD25-405B-9972-4025EF7DE7F1}"/>
              </a:ext>
            </a:extLst>
          </p:cNvPr>
          <p:cNvGrpSpPr/>
          <p:nvPr/>
        </p:nvGrpSpPr>
        <p:grpSpPr>
          <a:xfrm>
            <a:off x="1401462" y="363552"/>
            <a:ext cx="6341076" cy="834726"/>
            <a:chOff x="0" y="-204199"/>
            <a:chExt cx="6363749" cy="1187163"/>
          </a:xfrm>
        </p:grpSpPr>
        <p:grpSp>
          <p:nvGrpSpPr>
            <p:cNvPr id="4" name="Group 62">
              <a:extLst>
                <a:ext uri="{FF2B5EF4-FFF2-40B4-BE49-F238E27FC236}">
                  <a16:creationId xmlns:a16="http://schemas.microsoft.com/office/drawing/2014/main" id="{B54B9277-49FE-4884-9A76-30BB0A00ECBB}"/>
                </a:ext>
              </a:extLst>
            </p:cNvPr>
            <p:cNvGrpSpPr/>
            <p:nvPr/>
          </p:nvGrpSpPr>
          <p:grpSpPr>
            <a:xfrm>
              <a:off x="0" y="-204199"/>
              <a:ext cx="6363749" cy="1187163"/>
              <a:chOff x="0" y="-57150"/>
              <a:chExt cx="1781045" cy="332256"/>
            </a:xfrm>
          </p:grpSpPr>
          <p:sp>
            <p:nvSpPr>
              <p:cNvPr id="6" name="Freeform 63">
                <a:extLst>
                  <a:ext uri="{FF2B5EF4-FFF2-40B4-BE49-F238E27FC236}">
                    <a16:creationId xmlns:a16="http://schemas.microsoft.com/office/drawing/2014/main" id="{890D7DF6-BDB4-466A-91F9-F17B9E461023}"/>
                  </a:ext>
                </a:extLst>
              </p:cNvPr>
              <p:cNvSpPr/>
              <p:nvPr/>
            </p:nvSpPr>
            <p:spPr>
              <a:xfrm>
                <a:off x="0" y="0"/>
                <a:ext cx="1718771" cy="275106"/>
              </a:xfrm>
              <a:custGeom>
                <a:avLst/>
                <a:gdLst/>
                <a:ahLst/>
                <a:cxnLst/>
                <a:rect l="l" t="t" r="r" b="b"/>
                <a:pathLst>
                  <a:path w="1781045" h="275106">
                    <a:moveTo>
                      <a:pt x="0" y="0"/>
                    </a:moveTo>
                    <a:lnTo>
                      <a:pt x="1781045" y="0"/>
                    </a:lnTo>
                    <a:lnTo>
                      <a:pt x="1781045" y="275106"/>
                    </a:lnTo>
                    <a:lnTo>
                      <a:pt x="0" y="275106"/>
                    </a:lnTo>
                    <a:close/>
                  </a:path>
                </a:pathLst>
              </a:custGeom>
              <a:solidFill>
                <a:srgbClr val="082B3D"/>
              </a:solidFill>
            </p:spPr>
            <p:txBody>
              <a:bodyPr anchor="ctr"/>
              <a:lstStyle/>
              <a:p>
                <a:endParaRPr lang="en-PK"/>
              </a:p>
            </p:txBody>
          </p:sp>
          <p:sp>
            <p:nvSpPr>
              <p:cNvPr id="7" name="TextBox 64">
                <a:extLst>
                  <a:ext uri="{FF2B5EF4-FFF2-40B4-BE49-F238E27FC236}">
                    <a16:creationId xmlns:a16="http://schemas.microsoft.com/office/drawing/2014/main" id="{0163471F-7031-4257-972F-6F4A5635E7DD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781045" cy="332256"/>
              </a:xfrm>
              <a:prstGeom prst="rect">
                <a:avLst/>
              </a:prstGeom>
            </p:spPr>
            <p:txBody>
              <a:bodyPr lIns="47625" tIns="47625" rIns="47625" bIns="47625" rtlCol="0" anchor="ctr"/>
              <a:lstStyle/>
              <a:p>
                <a:pPr algn="ctr">
                  <a:lnSpc>
                    <a:spcPts val="3022"/>
                  </a:lnSpc>
                </a:pPr>
                <a:endParaRPr sz="1313"/>
              </a:p>
            </p:txBody>
          </p:sp>
        </p:grpSp>
        <p:sp>
          <p:nvSpPr>
            <p:cNvPr id="5" name="TextBox 65">
              <a:extLst>
                <a:ext uri="{FF2B5EF4-FFF2-40B4-BE49-F238E27FC236}">
                  <a16:creationId xmlns:a16="http://schemas.microsoft.com/office/drawing/2014/main" id="{A0BFEA1E-2EE6-4D5C-A4AB-F428352D8577}"/>
                </a:ext>
              </a:extLst>
            </p:cNvPr>
            <p:cNvSpPr txBox="1"/>
            <p:nvPr/>
          </p:nvSpPr>
          <p:spPr>
            <a:xfrm>
              <a:off x="375453" y="53756"/>
              <a:ext cx="5918741" cy="875451"/>
            </a:xfrm>
            <a:prstGeom prst="rect">
              <a:avLst/>
            </a:prstGeom>
          </p:spPr>
          <p:txBody>
            <a:bodyPr lIns="0" tIns="0" rIns="0" bIns="0" rtlCol="0" anchor="ctr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Lato Bold" panose="020F0502020204030203" pitchFamily="34" charset="0"/>
                  <a:ea typeface="Lato Bold" panose="020F0502020204030203" pitchFamily="34" charset="0"/>
                  <a:cs typeface="Lato Bold" panose="020F0502020204030203" pitchFamily="34" charset="0"/>
                </a:rPr>
                <a:t>What LegalMate Solves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3157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280309" y="2550741"/>
            <a:ext cx="1474584" cy="1901929"/>
            <a:chOff x="0" y="0"/>
            <a:chExt cx="812800" cy="10483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1048354"/>
            </a:xfrm>
            <a:custGeom>
              <a:avLst/>
              <a:gdLst/>
              <a:ahLst/>
              <a:cxnLst/>
              <a:rect l="l" t="t" r="r" b="b"/>
              <a:pathLst>
                <a:path w="812800" h="1048354">
                  <a:moveTo>
                    <a:pt x="68909" y="0"/>
                  </a:moveTo>
                  <a:lnTo>
                    <a:pt x="743891" y="0"/>
                  </a:lnTo>
                  <a:cubicBezTo>
                    <a:pt x="781948" y="0"/>
                    <a:pt x="812800" y="30852"/>
                    <a:pt x="812800" y="68909"/>
                  </a:cubicBezTo>
                  <a:lnTo>
                    <a:pt x="812800" y="979445"/>
                  </a:lnTo>
                  <a:cubicBezTo>
                    <a:pt x="812800" y="1017503"/>
                    <a:pt x="781948" y="1048354"/>
                    <a:pt x="743891" y="1048354"/>
                  </a:cubicBezTo>
                  <a:lnTo>
                    <a:pt x="68909" y="1048354"/>
                  </a:lnTo>
                  <a:cubicBezTo>
                    <a:pt x="50633" y="1048354"/>
                    <a:pt x="33106" y="1041094"/>
                    <a:pt x="20183" y="1028171"/>
                  </a:cubicBezTo>
                  <a:cubicBezTo>
                    <a:pt x="7260" y="1015248"/>
                    <a:pt x="0" y="997721"/>
                    <a:pt x="0" y="979445"/>
                  </a:cubicBezTo>
                  <a:lnTo>
                    <a:pt x="0" y="68909"/>
                  </a:lnTo>
                  <a:cubicBezTo>
                    <a:pt x="0" y="30852"/>
                    <a:pt x="30852" y="0"/>
                    <a:pt x="68909" y="0"/>
                  </a:cubicBezTo>
                  <a:close/>
                </a:path>
              </a:pathLst>
            </a:custGeom>
            <a:solidFill>
              <a:srgbClr val="082B3D">
                <a:alpha val="24706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1086454"/>
            </a:xfrm>
            <a:prstGeom prst="rect">
              <a:avLst/>
            </a:prstGeom>
          </p:spPr>
          <p:txBody>
            <a:bodyPr lIns="24273" tIns="24273" rIns="24273" bIns="24273" rtlCol="0" anchor="ctr"/>
            <a:lstStyle/>
            <a:p>
              <a:pPr algn="ctr">
                <a:lnSpc>
                  <a:spcPts val="1499"/>
                </a:lnSpc>
              </a:pPr>
              <a:endParaRPr sz="1313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609480" y="2302098"/>
            <a:ext cx="816242" cy="812522"/>
            <a:chOff x="0" y="0"/>
            <a:chExt cx="660400" cy="6573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657390"/>
            </a:xfrm>
            <a:custGeom>
              <a:avLst/>
              <a:gdLst/>
              <a:ahLst/>
              <a:cxnLst/>
              <a:rect l="l" t="t" r="r" b="b"/>
              <a:pathLst>
                <a:path w="660400" h="657390">
                  <a:moveTo>
                    <a:pt x="220252" y="638321"/>
                  </a:moveTo>
                  <a:cubicBezTo>
                    <a:pt x="254109" y="649835"/>
                    <a:pt x="292600" y="657390"/>
                    <a:pt x="330378" y="657390"/>
                  </a:cubicBezTo>
                  <a:cubicBezTo>
                    <a:pt x="368157" y="657390"/>
                    <a:pt x="404509" y="650913"/>
                    <a:pt x="438009" y="639399"/>
                  </a:cubicBezTo>
                  <a:cubicBezTo>
                    <a:pt x="438723" y="639040"/>
                    <a:pt x="439435" y="639040"/>
                    <a:pt x="440148" y="638681"/>
                  </a:cubicBezTo>
                  <a:cubicBezTo>
                    <a:pt x="565955" y="592625"/>
                    <a:pt x="658618" y="471011"/>
                    <a:pt x="660400" y="33234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32094"/>
                  </a:lnTo>
                  <a:cubicBezTo>
                    <a:pt x="1782" y="471730"/>
                    <a:pt x="93019" y="593345"/>
                    <a:pt x="220252" y="638321"/>
                  </a:cubicBezTo>
                  <a:close/>
                </a:path>
              </a:pathLst>
            </a:custGeom>
            <a:solidFill>
              <a:srgbClr val="6BA7C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60400" cy="568490"/>
            </a:xfrm>
            <a:prstGeom prst="rect">
              <a:avLst/>
            </a:prstGeom>
          </p:spPr>
          <p:txBody>
            <a:bodyPr lIns="24273" tIns="24273" rIns="24273" bIns="24273" rtlCol="0" anchor="ctr"/>
            <a:lstStyle/>
            <a:p>
              <a:pPr algn="ctr">
                <a:lnSpc>
                  <a:spcPts val="1499"/>
                </a:lnSpc>
              </a:pPr>
              <a:endParaRPr sz="1313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834708" y="2527066"/>
            <a:ext cx="1474584" cy="1901929"/>
            <a:chOff x="0" y="0"/>
            <a:chExt cx="812800" cy="104835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048354"/>
            </a:xfrm>
            <a:custGeom>
              <a:avLst/>
              <a:gdLst/>
              <a:ahLst/>
              <a:cxnLst/>
              <a:rect l="l" t="t" r="r" b="b"/>
              <a:pathLst>
                <a:path w="812800" h="1048354">
                  <a:moveTo>
                    <a:pt x="68909" y="0"/>
                  </a:moveTo>
                  <a:lnTo>
                    <a:pt x="743891" y="0"/>
                  </a:lnTo>
                  <a:cubicBezTo>
                    <a:pt x="781948" y="0"/>
                    <a:pt x="812800" y="30852"/>
                    <a:pt x="812800" y="68909"/>
                  </a:cubicBezTo>
                  <a:lnTo>
                    <a:pt x="812800" y="979445"/>
                  </a:lnTo>
                  <a:cubicBezTo>
                    <a:pt x="812800" y="1017503"/>
                    <a:pt x="781948" y="1048354"/>
                    <a:pt x="743891" y="1048354"/>
                  </a:cubicBezTo>
                  <a:lnTo>
                    <a:pt x="68909" y="1048354"/>
                  </a:lnTo>
                  <a:cubicBezTo>
                    <a:pt x="50633" y="1048354"/>
                    <a:pt x="33106" y="1041094"/>
                    <a:pt x="20183" y="1028171"/>
                  </a:cubicBezTo>
                  <a:cubicBezTo>
                    <a:pt x="7260" y="1015248"/>
                    <a:pt x="0" y="997721"/>
                    <a:pt x="0" y="979445"/>
                  </a:cubicBezTo>
                  <a:lnTo>
                    <a:pt x="0" y="68909"/>
                  </a:lnTo>
                  <a:cubicBezTo>
                    <a:pt x="0" y="30852"/>
                    <a:pt x="30852" y="0"/>
                    <a:pt x="68909" y="0"/>
                  </a:cubicBezTo>
                  <a:close/>
                </a:path>
              </a:pathLst>
            </a:custGeom>
            <a:solidFill>
              <a:srgbClr val="082B3D">
                <a:alpha val="24706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800" cy="1086454"/>
            </a:xfrm>
            <a:prstGeom prst="rect">
              <a:avLst/>
            </a:prstGeom>
          </p:spPr>
          <p:txBody>
            <a:bodyPr lIns="24273" tIns="24273" rIns="24273" bIns="24273" rtlCol="0" anchor="ctr"/>
            <a:lstStyle/>
            <a:p>
              <a:pPr algn="ctr">
                <a:lnSpc>
                  <a:spcPts val="1499"/>
                </a:lnSpc>
              </a:pPr>
              <a:endParaRPr sz="1313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177249" y="2302098"/>
            <a:ext cx="816242" cy="812522"/>
            <a:chOff x="0" y="0"/>
            <a:chExt cx="660400" cy="657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0400" cy="657390"/>
            </a:xfrm>
            <a:custGeom>
              <a:avLst/>
              <a:gdLst/>
              <a:ahLst/>
              <a:cxnLst/>
              <a:rect l="l" t="t" r="r" b="b"/>
              <a:pathLst>
                <a:path w="660400" h="657390">
                  <a:moveTo>
                    <a:pt x="220252" y="638321"/>
                  </a:moveTo>
                  <a:cubicBezTo>
                    <a:pt x="254109" y="649835"/>
                    <a:pt x="292600" y="657390"/>
                    <a:pt x="330378" y="657390"/>
                  </a:cubicBezTo>
                  <a:cubicBezTo>
                    <a:pt x="368157" y="657390"/>
                    <a:pt x="404509" y="650913"/>
                    <a:pt x="438009" y="639399"/>
                  </a:cubicBezTo>
                  <a:cubicBezTo>
                    <a:pt x="438723" y="639040"/>
                    <a:pt x="439435" y="639040"/>
                    <a:pt x="440148" y="638681"/>
                  </a:cubicBezTo>
                  <a:cubicBezTo>
                    <a:pt x="565955" y="592625"/>
                    <a:pt x="658618" y="471011"/>
                    <a:pt x="660400" y="33234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32094"/>
                  </a:lnTo>
                  <a:cubicBezTo>
                    <a:pt x="1782" y="471730"/>
                    <a:pt x="93019" y="593345"/>
                    <a:pt x="220252" y="638321"/>
                  </a:cubicBezTo>
                  <a:close/>
                </a:path>
              </a:pathLst>
            </a:custGeom>
            <a:solidFill>
              <a:srgbClr val="1F4F6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60400" cy="568490"/>
            </a:xfrm>
            <a:prstGeom prst="rect">
              <a:avLst/>
            </a:prstGeom>
          </p:spPr>
          <p:txBody>
            <a:bodyPr lIns="24273" tIns="24273" rIns="24273" bIns="24273" rtlCol="0" anchor="ctr"/>
            <a:lstStyle/>
            <a:p>
              <a:pPr algn="ctr">
                <a:lnSpc>
                  <a:spcPts val="1499"/>
                </a:lnSpc>
              </a:pPr>
              <a:endParaRPr sz="1313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15847" y="2550741"/>
            <a:ext cx="1474584" cy="1901929"/>
            <a:chOff x="0" y="0"/>
            <a:chExt cx="812800" cy="104835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1048354"/>
            </a:xfrm>
            <a:custGeom>
              <a:avLst/>
              <a:gdLst/>
              <a:ahLst/>
              <a:cxnLst/>
              <a:rect l="l" t="t" r="r" b="b"/>
              <a:pathLst>
                <a:path w="812800" h="1048354">
                  <a:moveTo>
                    <a:pt x="68909" y="0"/>
                  </a:moveTo>
                  <a:lnTo>
                    <a:pt x="743891" y="0"/>
                  </a:lnTo>
                  <a:cubicBezTo>
                    <a:pt x="781948" y="0"/>
                    <a:pt x="812800" y="30852"/>
                    <a:pt x="812800" y="68909"/>
                  </a:cubicBezTo>
                  <a:lnTo>
                    <a:pt x="812800" y="979445"/>
                  </a:lnTo>
                  <a:cubicBezTo>
                    <a:pt x="812800" y="1017503"/>
                    <a:pt x="781948" y="1048354"/>
                    <a:pt x="743891" y="1048354"/>
                  </a:cubicBezTo>
                  <a:lnTo>
                    <a:pt x="68909" y="1048354"/>
                  </a:lnTo>
                  <a:cubicBezTo>
                    <a:pt x="50633" y="1048354"/>
                    <a:pt x="33106" y="1041094"/>
                    <a:pt x="20183" y="1028171"/>
                  </a:cubicBezTo>
                  <a:cubicBezTo>
                    <a:pt x="7260" y="1015248"/>
                    <a:pt x="0" y="997721"/>
                    <a:pt x="0" y="979445"/>
                  </a:cubicBezTo>
                  <a:lnTo>
                    <a:pt x="0" y="68909"/>
                  </a:lnTo>
                  <a:cubicBezTo>
                    <a:pt x="0" y="30852"/>
                    <a:pt x="30852" y="0"/>
                    <a:pt x="68909" y="0"/>
                  </a:cubicBezTo>
                  <a:close/>
                </a:path>
              </a:pathLst>
            </a:custGeom>
            <a:solidFill>
              <a:srgbClr val="082B3D">
                <a:alpha val="24706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12800" cy="1086454"/>
            </a:xfrm>
            <a:prstGeom prst="rect">
              <a:avLst/>
            </a:prstGeom>
          </p:spPr>
          <p:txBody>
            <a:bodyPr lIns="24273" tIns="24273" rIns="24273" bIns="24273" rtlCol="0" anchor="ctr"/>
            <a:lstStyle/>
            <a:p>
              <a:pPr algn="ctr">
                <a:lnSpc>
                  <a:spcPts val="1499"/>
                </a:lnSpc>
              </a:pPr>
              <a:endParaRPr sz="1313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45018" y="2302098"/>
            <a:ext cx="816242" cy="812522"/>
            <a:chOff x="0" y="0"/>
            <a:chExt cx="660400" cy="65739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60400" cy="657390"/>
            </a:xfrm>
            <a:custGeom>
              <a:avLst/>
              <a:gdLst/>
              <a:ahLst/>
              <a:cxnLst/>
              <a:rect l="l" t="t" r="r" b="b"/>
              <a:pathLst>
                <a:path w="660400" h="657390">
                  <a:moveTo>
                    <a:pt x="220252" y="638321"/>
                  </a:moveTo>
                  <a:cubicBezTo>
                    <a:pt x="254109" y="649835"/>
                    <a:pt x="292600" y="657390"/>
                    <a:pt x="330378" y="657390"/>
                  </a:cubicBezTo>
                  <a:cubicBezTo>
                    <a:pt x="368157" y="657390"/>
                    <a:pt x="404509" y="650913"/>
                    <a:pt x="438009" y="639399"/>
                  </a:cubicBezTo>
                  <a:cubicBezTo>
                    <a:pt x="438723" y="639040"/>
                    <a:pt x="439435" y="639040"/>
                    <a:pt x="440148" y="638681"/>
                  </a:cubicBezTo>
                  <a:cubicBezTo>
                    <a:pt x="565955" y="592625"/>
                    <a:pt x="658618" y="471011"/>
                    <a:pt x="660400" y="33234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32094"/>
                  </a:lnTo>
                  <a:cubicBezTo>
                    <a:pt x="1782" y="471730"/>
                    <a:pt x="93019" y="593345"/>
                    <a:pt x="220252" y="638321"/>
                  </a:cubicBezTo>
                  <a:close/>
                </a:path>
              </a:pathLst>
            </a:custGeom>
            <a:solidFill>
              <a:srgbClr val="6BA7C4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660400" cy="568490"/>
            </a:xfrm>
            <a:prstGeom prst="rect">
              <a:avLst/>
            </a:prstGeom>
          </p:spPr>
          <p:txBody>
            <a:bodyPr lIns="24273" tIns="24273" rIns="24273" bIns="24273" rtlCol="0" anchor="ctr"/>
            <a:lstStyle/>
            <a:p>
              <a:pPr algn="ctr">
                <a:lnSpc>
                  <a:spcPts val="1499"/>
                </a:lnSpc>
              </a:pPr>
              <a:endParaRPr sz="1313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983616" y="2550741"/>
            <a:ext cx="1474584" cy="1901929"/>
            <a:chOff x="0" y="0"/>
            <a:chExt cx="812800" cy="104835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1048354"/>
            </a:xfrm>
            <a:custGeom>
              <a:avLst/>
              <a:gdLst/>
              <a:ahLst/>
              <a:cxnLst/>
              <a:rect l="l" t="t" r="r" b="b"/>
              <a:pathLst>
                <a:path w="812800" h="1048354">
                  <a:moveTo>
                    <a:pt x="68909" y="0"/>
                  </a:moveTo>
                  <a:lnTo>
                    <a:pt x="743891" y="0"/>
                  </a:lnTo>
                  <a:cubicBezTo>
                    <a:pt x="781948" y="0"/>
                    <a:pt x="812800" y="30852"/>
                    <a:pt x="812800" y="68909"/>
                  </a:cubicBezTo>
                  <a:lnTo>
                    <a:pt x="812800" y="979445"/>
                  </a:lnTo>
                  <a:cubicBezTo>
                    <a:pt x="812800" y="1017503"/>
                    <a:pt x="781948" y="1048354"/>
                    <a:pt x="743891" y="1048354"/>
                  </a:cubicBezTo>
                  <a:lnTo>
                    <a:pt x="68909" y="1048354"/>
                  </a:lnTo>
                  <a:cubicBezTo>
                    <a:pt x="50633" y="1048354"/>
                    <a:pt x="33106" y="1041094"/>
                    <a:pt x="20183" y="1028171"/>
                  </a:cubicBezTo>
                  <a:cubicBezTo>
                    <a:pt x="7260" y="1015248"/>
                    <a:pt x="0" y="997721"/>
                    <a:pt x="0" y="979445"/>
                  </a:cubicBezTo>
                  <a:lnTo>
                    <a:pt x="0" y="68909"/>
                  </a:lnTo>
                  <a:cubicBezTo>
                    <a:pt x="0" y="30852"/>
                    <a:pt x="30852" y="0"/>
                    <a:pt x="68909" y="0"/>
                  </a:cubicBezTo>
                  <a:close/>
                </a:path>
              </a:pathLst>
            </a:custGeom>
            <a:solidFill>
              <a:srgbClr val="082B3D">
                <a:alpha val="24706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812800" cy="1086454"/>
            </a:xfrm>
            <a:prstGeom prst="rect">
              <a:avLst/>
            </a:prstGeom>
          </p:spPr>
          <p:txBody>
            <a:bodyPr lIns="24273" tIns="24273" rIns="24273" bIns="24273" rtlCol="0" anchor="ctr"/>
            <a:lstStyle/>
            <a:p>
              <a:pPr algn="ctr">
                <a:lnSpc>
                  <a:spcPts val="1499"/>
                </a:lnSpc>
              </a:pPr>
              <a:endParaRPr sz="1313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312787" y="2302098"/>
            <a:ext cx="816242" cy="812522"/>
            <a:chOff x="0" y="0"/>
            <a:chExt cx="660400" cy="6573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60400" cy="657390"/>
            </a:xfrm>
            <a:custGeom>
              <a:avLst/>
              <a:gdLst/>
              <a:ahLst/>
              <a:cxnLst/>
              <a:rect l="l" t="t" r="r" b="b"/>
              <a:pathLst>
                <a:path w="660400" h="657390">
                  <a:moveTo>
                    <a:pt x="220252" y="638321"/>
                  </a:moveTo>
                  <a:cubicBezTo>
                    <a:pt x="254109" y="649835"/>
                    <a:pt x="292600" y="657390"/>
                    <a:pt x="330378" y="657390"/>
                  </a:cubicBezTo>
                  <a:cubicBezTo>
                    <a:pt x="368157" y="657390"/>
                    <a:pt x="404509" y="650913"/>
                    <a:pt x="438009" y="639399"/>
                  </a:cubicBezTo>
                  <a:cubicBezTo>
                    <a:pt x="438723" y="639040"/>
                    <a:pt x="439435" y="639040"/>
                    <a:pt x="440148" y="638681"/>
                  </a:cubicBezTo>
                  <a:cubicBezTo>
                    <a:pt x="565955" y="592625"/>
                    <a:pt x="658618" y="471011"/>
                    <a:pt x="660400" y="33234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32094"/>
                  </a:lnTo>
                  <a:cubicBezTo>
                    <a:pt x="1782" y="471730"/>
                    <a:pt x="93019" y="593345"/>
                    <a:pt x="220252" y="638321"/>
                  </a:cubicBezTo>
                  <a:close/>
                </a:path>
              </a:pathLst>
            </a:custGeom>
            <a:solidFill>
              <a:srgbClr val="1F4F66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660400" cy="568490"/>
            </a:xfrm>
            <a:prstGeom prst="rect">
              <a:avLst/>
            </a:prstGeom>
          </p:spPr>
          <p:txBody>
            <a:bodyPr lIns="24273" tIns="24273" rIns="24273" bIns="24273" rtlCol="0" anchor="ctr"/>
            <a:lstStyle/>
            <a:p>
              <a:pPr algn="ctr">
                <a:lnSpc>
                  <a:spcPts val="1499"/>
                </a:lnSpc>
              </a:pPr>
              <a:endParaRPr sz="1313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07758" y="4667612"/>
            <a:ext cx="1550089" cy="111601"/>
            <a:chOff x="0" y="0"/>
            <a:chExt cx="854418" cy="6151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54418" cy="61515"/>
            </a:xfrm>
            <a:custGeom>
              <a:avLst/>
              <a:gdLst/>
              <a:ahLst/>
              <a:cxnLst/>
              <a:rect l="l" t="t" r="r" b="b"/>
              <a:pathLst>
                <a:path w="854418" h="61515">
                  <a:moveTo>
                    <a:pt x="0" y="0"/>
                  </a:moveTo>
                  <a:lnTo>
                    <a:pt x="854418" y="0"/>
                  </a:lnTo>
                  <a:lnTo>
                    <a:pt x="854418" y="61515"/>
                  </a:lnTo>
                  <a:lnTo>
                    <a:pt x="0" y="61515"/>
                  </a:lnTo>
                  <a:close/>
                </a:path>
              </a:pathLst>
            </a:custGeom>
            <a:solidFill>
              <a:srgbClr val="1F4F66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854418" cy="99615"/>
            </a:xfrm>
            <a:prstGeom prst="rect">
              <a:avLst/>
            </a:prstGeom>
          </p:spPr>
          <p:txBody>
            <a:bodyPr lIns="24273" tIns="24273" rIns="24273" bIns="24273" rtlCol="0" anchor="ctr"/>
            <a:lstStyle/>
            <a:p>
              <a:pPr algn="ctr">
                <a:lnSpc>
                  <a:spcPts val="1499"/>
                </a:lnSpc>
              </a:pPr>
              <a:endParaRPr sz="1313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807935" y="4667612"/>
            <a:ext cx="1550089" cy="111601"/>
            <a:chOff x="0" y="0"/>
            <a:chExt cx="854418" cy="6151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54418" cy="61515"/>
            </a:xfrm>
            <a:custGeom>
              <a:avLst/>
              <a:gdLst/>
              <a:ahLst/>
              <a:cxnLst/>
              <a:rect l="l" t="t" r="r" b="b"/>
              <a:pathLst>
                <a:path w="854418" h="61515">
                  <a:moveTo>
                    <a:pt x="0" y="0"/>
                  </a:moveTo>
                  <a:lnTo>
                    <a:pt x="854418" y="0"/>
                  </a:lnTo>
                  <a:lnTo>
                    <a:pt x="854418" y="61515"/>
                  </a:lnTo>
                  <a:lnTo>
                    <a:pt x="0" y="61515"/>
                  </a:lnTo>
                  <a:close/>
                </a:path>
              </a:pathLst>
            </a:custGeom>
            <a:solidFill>
              <a:srgbClr val="1F4F66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854418" cy="99615"/>
            </a:xfrm>
            <a:prstGeom prst="rect">
              <a:avLst/>
            </a:prstGeom>
          </p:spPr>
          <p:txBody>
            <a:bodyPr lIns="24273" tIns="24273" rIns="24273" bIns="24273" rtlCol="0" anchor="ctr"/>
            <a:lstStyle/>
            <a:p>
              <a:pPr algn="ctr">
                <a:lnSpc>
                  <a:spcPts val="1499"/>
                </a:lnSpc>
              </a:pPr>
              <a:endParaRPr sz="1313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257847" y="4667612"/>
            <a:ext cx="1550089" cy="111601"/>
            <a:chOff x="0" y="0"/>
            <a:chExt cx="854418" cy="6151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54418" cy="61515"/>
            </a:xfrm>
            <a:custGeom>
              <a:avLst/>
              <a:gdLst/>
              <a:ahLst/>
              <a:cxnLst/>
              <a:rect l="l" t="t" r="r" b="b"/>
              <a:pathLst>
                <a:path w="854418" h="61515">
                  <a:moveTo>
                    <a:pt x="0" y="0"/>
                  </a:moveTo>
                  <a:lnTo>
                    <a:pt x="854418" y="0"/>
                  </a:lnTo>
                  <a:lnTo>
                    <a:pt x="854418" y="61515"/>
                  </a:lnTo>
                  <a:lnTo>
                    <a:pt x="0" y="61515"/>
                  </a:lnTo>
                  <a:close/>
                </a:path>
              </a:pathLst>
            </a:custGeom>
            <a:solidFill>
              <a:srgbClr val="6BA7C4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854418" cy="99615"/>
            </a:xfrm>
            <a:prstGeom prst="rect">
              <a:avLst/>
            </a:prstGeom>
          </p:spPr>
          <p:txBody>
            <a:bodyPr lIns="24273" tIns="24273" rIns="24273" bIns="24273" rtlCol="0" anchor="ctr"/>
            <a:lstStyle/>
            <a:p>
              <a:pPr algn="ctr">
                <a:lnSpc>
                  <a:spcPts val="1499"/>
                </a:lnSpc>
              </a:pPr>
              <a:endParaRPr sz="1313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358023" y="4667612"/>
            <a:ext cx="1550089" cy="111601"/>
            <a:chOff x="0" y="0"/>
            <a:chExt cx="854418" cy="6151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54418" cy="61515"/>
            </a:xfrm>
            <a:custGeom>
              <a:avLst/>
              <a:gdLst/>
              <a:ahLst/>
              <a:cxnLst/>
              <a:rect l="l" t="t" r="r" b="b"/>
              <a:pathLst>
                <a:path w="854418" h="61515">
                  <a:moveTo>
                    <a:pt x="0" y="0"/>
                  </a:moveTo>
                  <a:lnTo>
                    <a:pt x="854418" y="0"/>
                  </a:lnTo>
                  <a:lnTo>
                    <a:pt x="854418" y="61515"/>
                  </a:lnTo>
                  <a:lnTo>
                    <a:pt x="0" y="61515"/>
                  </a:lnTo>
                  <a:close/>
                </a:path>
              </a:pathLst>
            </a:custGeom>
            <a:solidFill>
              <a:srgbClr val="6BA7C4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854418" cy="99615"/>
            </a:xfrm>
            <a:prstGeom prst="rect">
              <a:avLst/>
            </a:prstGeom>
          </p:spPr>
          <p:txBody>
            <a:bodyPr lIns="24273" tIns="24273" rIns="24273" bIns="24273" rtlCol="0" anchor="ctr"/>
            <a:lstStyle/>
            <a:p>
              <a:pPr algn="ctr">
                <a:lnSpc>
                  <a:spcPts val="1499"/>
                </a:lnSpc>
              </a:pPr>
              <a:endParaRPr sz="1313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908111" y="4667612"/>
            <a:ext cx="1550089" cy="111601"/>
            <a:chOff x="0" y="0"/>
            <a:chExt cx="854418" cy="6151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54418" cy="61515"/>
            </a:xfrm>
            <a:custGeom>
              <a:avLst/>
              <a:gdLst/>
              <a:ahLst/>
              <a:cxnLst/>
              <a:rect l="l" t="t" r="r" b="b"/>
              <a:pathLst>
                <a:path w="854418" h="61515">
                  <a:moveTo>
                    <a:pt x="0" y="0"/>
                  </a:moveTo>
                  <a:lnTo>
                    <a:pt x="854418" y="0"/>
                  </a:lnTo>
                  <a:lnTo>
                    <a:pt x="854418" y="61515"/>
                  </a:lnTo>
                  <a:lnTo>
                    <a:pt x="0" y="61515"/>
                  </a:lnTo>
                  <a:close/>
                </a:path>
              </a:pathLst>
            </a:custGeom>
            <a:solidFill>
              <a:srgbClr val="1F4F66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854418" cy="99615"/>
            </a:xfrm>
            <a:prstGeom prst="rect">
              <a:avLst/>
            </a:prstGeom>
          </p:spPr>
          <p:txBody>
            <a:bodyPr lIns="24273" tIns="24273" rIns="24273" bIns="24273" rtlCol="0" anchor="ctr"/>
            <a:lstStyle/>
            <a:p>
              <a:pPr algn="ctr">
                <a:lnSpc>
                  <a:spcPts val="1499"/>
                </a:lnSpc>
              </a:pPr>
              <a:endParaRPr sz="1313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923911" y="4614431"/>
            <a:ext cx="217961" cy="217961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A7C4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4273" tIns="24273" rIns="24273" bIns="24273" rtlCol="0" anchor="ctr"/>
            <a:lstStyle/>
            <a:p>
              <a:pPr algn="ctr">
                <a:lnSpc>
                  <a:spcPts val="1499"/>
                </a:lnSpc>
              </a:pPr>
              <a:endParaRPr sz="1313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06970" y="4614431"/>
            <a:ext cx="217961" cy="217961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4F66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4273" tIns="24273" rIns="24273" bIns="24273" rtlCol="0" anchor="ctr"/>
            <a:lstStyle/>
            <a:p>
              <a:pPr algn="ctr">
                <a:lnSpc>
                  <a:spcPts val="1499"/>
                </a:lnSpc>
              </a:pPr>
              <a:endParaRPr sz="1313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90028" y="4614431"/>
            <a:ext cx="217961" cy="217961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A7C4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4273" tIns="24273" rIns="24273" bIns="24273" rtlCol="0" anchor="ctr"/>
            <a:lstStyle/>
            <a:p>
              <a:pPr algn="ctr">
                <a:lnSpc>
                  <a:spcPts val="1499"/>
                </a:lnSpc>
              </a:pPr>
              <a:endParaRPr sz="1313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673087" y="4614431"/>
            <a:ext cx="217961" cy="217961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4F66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4273" tIns="24273" rIns="24273" bIns="24273" rtlCol="0" anchor="ctr"/>
            <a:lstStyle/>
            <a:p>
              <a:pPr algn="ctr">
                <a:lnSpc>
                  <a:spcPts val="1499"/>
                </a:lnSpc>
              </a:pPr>
              <a:endParaRPr sz="1313"/>
            </a:p>
          </p:txBody>
        </p:sp>
      </p:grpSp>
      <p:sp>
        <p:nvSpPr>
          <p:cNvPr id="54" name="Freeform 54"/>
          <p:cNvSpPr/>
          <p:nvPr/>
        </p:nvSpPr>
        <p:spPr>
          <a:xfrm>
            <a:off x="5968930" y="2492227"/>
            <a:ext cx="408195" cy="408195"/>
          </a:xfrm>
          <a:custGeom>
            <a:avLst/>
            <a:gdLst/>
            <a:ahLst/>
            <a:cxnLst/>
            <a:rect l="l" t="t" r="r" b="b"/>
            <a:pathLst>
              <a:path w="435408" h="435408">
                <a:moveTo>
                  <a:pt x="0" y="0"/>
                </a:moveTo>
                <a:lnTo>
                  <a:pt x="435409" y="0"/>
                </a:lnTo>
                <a:lnTo>
                  <a:pt x="435409" y="435408"/>
                </a:lnTo>
                <a:lnTo>
                  <a:pt x="0" y="4354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5" name="Freeform 55"/>
          <p:cNvSpPr/>
          <p:nvPr/>
        </p:nvSpPr>
        <p:spPr>
          <a:xfrm>
            <a:off x="2816624" y="2467075"/>
            <a:ext cx="397732" cy="331716"/>
          </a:xfrm>
          <a:custGeom>
            <a:avLst/>
            <a:gdLst/>
            <a:ahLst/>
            <a:cxnLst/>
            <a:rect l="l" t="t" r="r" b="b"/>
            <a:pathLst>
              <a:path w="424247" h="353830">
                <a:moveTo>
                  <a:pt x="0" y="0"/>
                </a:moveTo>
                <a:lnTo>
                  <a:pt x="424247" y="0"/>
                </a:lnTo>
                <a:lnTo>
                  <a:pt x="424247" y="353830"/>
                </a:lnTo>
                <a:lnTo>
                  <a:pt x="0" y="3538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6" name="Freeform 56"/>
          <p:cNvSpPr/>
          <p:nvPr/>
        </p:nvSpPr>
        <p:spPr>
          <a:xfrm>
            <a:off x="4372425" y="2492227"/>
            <a:ext cx="425889" cy="316533"/>
          </a:xfrm>
          <a:custGeom>
            <a:avLst/>
            <a:gdLst/>
            <a:ahLst/>
            <a:cxnLst/>
            <a:rect l="l" t="t" r="r" b="b"/>
            <a:pathLst>
              <a:path w="454282" h="337635">
                <a:moveTo>
                  <a:pt x="0" y="0"/>
                </a:moveTo>
                <a:lnTo>
                  <a:pt x="454282" y="0"/>
                </a:lnTo>
                <a:lnTo>
                  <a:pt x="454282" y="337636"/>
                </a:lnTo>
                <a:lnTo>
                  <a:pt x="0" y="3376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7" name="Freeform 57"/>
          <p:cNvSpPr/>
          <p:nvPr/>
        </p:nvSpPr>
        <p:spPr>
          <a:xfrm>
            <a:off x="7551228" y="2488996"/>
            <a:ext cx="325084" cy="319764"/>
          </a:xfrm>
          <a:custGeom>
            <a:avLst/>
            <a:gdLst/>
            <a:ahLst/>
            <a:cxnLst/>
            <a:rect l="l" t="t" r="r" b="b"/>
            <a:pathLst>
              <a:path w="346756" h="341082">
                <a:moveTo>
                  <a:pt x="0" y="0"/>
                </a:moveTo>
                <a:lnTo>
                  <a:pt x="346756" y="0"/>
                </a:lnTo>
                <a:lnTo>
                  <a:pt x="346756" y="341082"/>
                </a:lnTo>
                <a:lnTo>
                  <a:pt x="0" y="34108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8" name="TextBox 58"/>
          <p:cNvSpPr txBox="1"/>
          <p:nvPr/>
        </p:nvSpPr>
        <p:spPr>
          <a:xfrm>
            <a:off x="7212009" y="3272236"/>
            <a:ext cx="1017798" cy="463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7"/>
              </a:lnSpc>
            </a:pPr>
            <a:r>
              <a:rPr lang="en-US" sz="1341" b="1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Easy laws Explaination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880933" y="3252337"/>
            <a:ext cx="1408873" cy="462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338" b="1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OCR &amp; Document Generator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407524" y="3389438"/>
            <a:ext cx="1250732" cy="20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2"/>
              </a:lnSpc>
            </a:pPr>
            <a:r>
              <a:rPr lang="en-US" sz="1338" b="1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Voice I/O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2345724" y="685800"/>
            <a:ext cx="4474511" cy="691147"/>
            <a:chOff x="0" y="0"/>
            <a:chExt cx="6363749" cy="982964"/>
          </a:xfrm>
        </p:grpSpPr>
        <p:grpSp>
          <p:nvGrpSpPr>
            <p:cNvPr id="62" name="Group 62"/>
            <p:cNvGrpSpPr/>
            <p:nvPr/>
          </p:nvGrpSpPr>
          <p:grpSpPr>
            <a:xfrm>
              <a:off x="0" y="0"/>
              <a:ext cx="6363749" cy="982964"/>
              <a:chOff x="0" y="0"/>
              <a:chExt cx="1781045" cy="27510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1781045" cy="275106"/>
              </a:xfrm>
              <a:custGeom>
                <a:avLst/>
                <a:gdLst/>
                <a:ahLst/>
                <a:cxnLst/>
                <a:rect l="l" t="t" r="r" b="b"/>
                <a:pathLst>
                  <a:path w="1781045" h="275106">
                    <a:moveTo>
                      <a:pt x="0" y="0"/>
                    </a:moveTo>
                    <a:lnTo>
                      <a:pt x="1781045" y="0"/>
                    </a:lnTo>
                    <a:lnTo>
                      <a:pt x="1781045" y="275106"/>
                    </a:lnTo>
                    <a:lnTo>
                      <a:pt x="0" y="275106"/>
                    </a:lnTo>
                    <a:close/>
                  </a:path>
                </a:pathLst>
              </a:custGeom>
              <a:solidFill>
                <a:srgbClr val="082B3D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0" y="-57150"/>
                <a:ext cx="1781045" cy="332256"/>
              </a:xfrm>
              <a:prstGeom prst="rect">
                <a:avLst/>
              </a:prstGeom>
            </p:spPr>
            <p:txBody>
              <a:bodyPr lIns="47625" tIns="47625" rIns="47625" bIns="47625" rtlCol="0" anchor="ctr"/>
              <a:lstStyle/>
              <a:p>
                <a:pPr algn="ctr">
                  <a:lnSpc>
                    <a:spcPts val="3022"/>
                  </a:lnSpc>
                </a:pPr>
                <a:endParaRPr sz="1313"/>
              </a:p>
            </p:txBody>
          </p:sp>
        </p:grpSp>
        <p:sp>
          <p:nvSpPr>
            <p:cNvPr id="65" name="TextBox 65"/>
            <p:cNvSpPr txBox="1"/>
            <p:nvPr/>
          </p:nvSpPr>
          <p:spPr>
            <a:xfrm>
              <a:off x="222502" y="120028"/>
              <a:ext cx="5918741" cy="6427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38"/>
                </a:lnSpc>
                <a:spcBef>
                  <a:spcPct val="0"/>
                </a:spcBef>
              </a:pPr>
              <a:r>
                <a:rPr lang="en-US" sz="2813" b="1" dirty="0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MAIN FEATURES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42814" y="2527067"/>
            <a:ext cx="1492940" cy="1925603"/>
            <a:chOff x="0" y="0"/>
            <a:chExt cx="812800" cy="104835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12800" cy="1048354"/>
            </a:xfrm>
            <a:custGeom>
              <a:avLst/>
              <a:gdLst/>
              <a:ahLst/>
              <a:cxnLst/>
              <a:rect l="l" t="t" r="r" b="b"/>
              <a:pathLst>
                <a:path w="812800" h="1048354">
                  <a:moveTo>
                    <a:pt x="68062" y="0"/>
                  </a:moveTo>
                  <a:lnTo>
                    <a:pt x="744738" y="0"/>
                  </a:lnTo>
                  <a:cubicBezTo>
                    <a:pt x="762789" y="0"/>
                    <a:pt x="780101" y="7171"/>
                    <a:pt x="792865" y="19935"/>
                  </a:cubicBezTo>
                  <a:cubicBezTo>
                    <a:pt x="805629" y="32699"/>
                    <a:pt x="812800" y="50011"/>
                    <a:pt x="812800" y="68062"/>
                  </a:cubicBezTo>
                  <a:lnTo>
                    <a:pt x="812800" y="980292"/>
                  </a:lnTo>
                  <a:cubicBezTo>
                    <a:pt x="812800" y="998344"/>
                    <a:pt x="805629" y="1015655"/>
                    <a:pt x="792865" y="1028419"/>
                  </a:cubicBezTo>
                  <a:cubicBezTo>
                    <a:pt x="780101" y="1041184"/>
                    <a:pt x="762789" y="1048354"/>
                    <a:pt x="744738" y="1048354"/>
                  </a:cubicBezTo>
                  <a:lnTo>
                    <a:pt x="68062" y="1048354"/>
                  </a:lnTo>
                  <a:cubicBezTo>
                    <a:pt x="50011" y="1048354"/>
                    <a:pt x="32699" y="1041184"/>
                    <a:pt x="19935" y="1028419"/>
                  </a:cubicBezTo>
                  <a:cubicBezTo>
                    <a:pt x="7171" y="1015655"/>
                    <a:pt x="0" y="998344"/>
                    <a:pt x="0" y="980292"/>
                  </a:cubicBezTo>
                  <a:lnTo>
                    <a:pt x="0" y="68062"/>
                  </a:lnTo>
                  <a:cubicBezTo>
                    <a:pt x="0" y="50011"/>
                    <a:pt x="7171" y="32699"/>
                    <a:pt x="19935" y="19935"/>
                  </a:cubicBezTo>
                  <a:cubicBezTo>
                    <a:pt x="32699" y="7171"/>
                    <a:pt x="50011" y="0"/>
                    <a:pt x="68062" y="0"/>
                  </a:cubicBezTo>
                  <a:close/>
                </a:path>
              </a:pathLst>
            </a:custGeom>
            <a:solidFill>
              <a:srgbClr val="082B3D">
                <a:alpha val="24706"/>
              </a:srgbClr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0" y="-57150"/>
              <a:ext cx="812800" cy="1105504"/>
            </a:xfrm>
            <a:prstGeom prst="rect">
              <a:avLst/>
            </a:prstGeom>
          </p:spPr>
          <p:txBody>
            <a:bodyPr lIns="24575" tIns="24575" rIns="24575" bIns="24575" rtlCol="0" anchor="ctr"/>
            <a:lstStyle/>
            <a:p>
              <a:pPr algn="ctr">
                <a:lnSpc>
                  <a:spcPts val="2494"/>
                </a:lnSpc>
              </a:pPr>
              <a:endParaRPr sz="1313"/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917007" y="3272236"/>
            <a:ext cx="944555" cy="463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7"/>
              </a:lnSpc>
            </a:pPr>
            <a:r>
              <a:rPr lang="en-US" sz="1341" b="1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Multilingual ChatBot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976083" y="2275328"/>
            <a:ext cx="826403" cy="822636"/>
            <a:chOff x="0" y="0"/>
            <a:chExt cx="660400" cy="65739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60400" cy="657390"/>
            </a:xfrm>
            <a:custGeom>
              <a:avLst/>
              <a:gdLst/>
              <a:ahLst/>
              <a:cxnLst/>
              <a:rect l="l" t="t" r="r" b="b"/>
              <a:pathLst>
                <a:path w="660400" h="657390">
                  <a:moveTo>
                    <a:pt x="220252" y="638321"/>
                  </a:moveTo>
                  <a:cubicBezTo>
                    <a:pt x="254109" y="649835"/>
                    <a:pt x="292600" y="657390"/>
                    <a:pt x="330378" y="657390"/>
                  </a:cubicBezTo>
                  <a:cubicBezTo>
                    <a:pt x="368157" y="657390"/>
                    <a:pt x="404509" y="650913"/>
                    <a:pt x="438009" y="639399"/>
                  </a:cubicBezTo>
                  <a:cubicBezTo>
                    <a:pt x="438723" y="639040"/>
                    <a:pt x="439435" y="639040"/>
                    <a:pt x="440148" y="638681"/>
                  </a:cubicBezTo>
                  <a:cubicBezTo>
                    <a:pt x="565955" y="592625"/>
                    <a:pt x="658618" y="471011"/>
                    <a:pt x="660400" y="33234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332094"/>
                  </a:lnTo>
                  <a:cubicBezTo>
                    <a:pt x="1782" y="471730"/>
                    <a:pt x="93019" y="593345"/>
                    <a:pt x="220252" y="638321"/>
                  </a:cubicBezTo>
                  <a:close/>
                </a:path>
              </a:pathLst>
            </a:custGeom>
            <a:solidFill>
              <a:srgbClr val="1F4F66"/>
            </a:solidFill>
          </p:spPr>
        </p:sp>
        <p:sp>
          <p:nvSpPr>
            <p:cNvPr id="72" name="TextBox 72"/>
            <p:cNvSpPr txBox="1"/>
            <p:nvPr/>
          </p:nvSpPr>
          <p:spPr>
            <a:xfrm>
              <a:off x="0" y="-57150"/>
              <a:ext cx="660400" cy="587540"/>
            </a:xfrm>
            <a:prstGeom prst="rect">
              <a:avLst/>
            </a:prstGeom>
          </p:spPr>
          <p:txBody>
            <a:bodyPr lIns="24575" tIns="24575" rIns="24575" bIns="24575" rtlCol="0" anchor="ctr"/>
            <a:lstStyle/>
            <a:p>
              <a:pPr algn="ctr">
                <a:lnSpc>
                  <a:spcPts val="2494"/>
                </a:lnSpc>
              </a:pPr>
              <a:endParaRPr sz="1313"/>
            </a:p>
          </p:txBody>
        </p:sp>
      </p:grpSp>
      <p:sp>
        <p:nvSpPr>
          <p:cNvPr id="73" name="Freeform 73"/>
          <p:cNvSpPr/>
          <p:nvPr/>
        </p:nvSpPr>
        <p:spPr>
          <a:xfrm>
            <a:off x="1206139" y="2467824"/>
            <a:ext cx="332783" cy="330967"/>
          </a:xfrm>
          <a:custGeom>
            <a:avLst/>
            <a:gdLst/>
            <a:ahLst/>
            <a:cxnLst/>
            <a:rect l="l" t="t" r="r" b="b"/>
            <a:pathLst>
              <a:path w="354968" h="353031">
                <a:moveTo>
                  <a:pt x="0" y="0"/>
                </a:moveTo>
                <a:lnTo>
                  <a:pt x="354968" y="0"/>
                </a:lnTo>
                <a:lnTo>
                  <a:pt x="354968" y="353032"/>
                </a:lnTo>
                <a:lnTo>
                  <a:pt x="0" y="35303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4" name="TextBox 74"/>
          <p:cNvSpPr txBox="1"/>
          <p:nvPr/>
        </p:nvSpPr>
        <p:spPr>
          <a:xfrm>
            <a:off x="5615962" y="3252337"/>
            <a:ext cx="1060985" cy="462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338" b="1" dirty="0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Easy Lawyers Access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685800" y="1866038"/>
          <a:ext cx="7823200" cy="2507629"/>
        </p:xfrm>
        <a:graphic>
          <a:graphicData uri="http://schemas.openxmlformats.org/drawingml/2006/table">
            <a:tbl>
              <a:tblPr/>
              <a:tblGrid>
                <a:gridCol w="97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5039"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00" b="1" i="1">
                          <a:solidFill>
                            <a:srgbClr val="FFFFFF"/>
                          </a:solidFill>
                          <a:latin typeface="Lato Bold Italics"/>
                          <a:ea typeface="Lato Bold Italics"/>
                          <a:cs typeface="Lato Bold Italics"/>
                          <a:sym typeface="Lato Bold Italics"/>
                        </a:rPr>
                        <a:t>Project / Org</a:t>
                      </a:r>
                      <a:endParaRPr lang="en-US" sz="1000"/>
                    </a:p>
                  </a:txBody>
                  <a:tcPr marL="8930" marR="8930" marT="8930" marB="893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00" b="1" i="1">
                          <a:solidFill>
                            <a:srgbClr val="FFFFFF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Target users</a:t>
                      </a:r>
                      <a:endParaRPr lang="en-US" sz="1000"/>
                    </a:p>
                  </a:txBody>
                  <a:tcPr marL="8930" marR="8930" marT="8930" marB="893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00" b="1" i="1">
                          <a:solidFill>
                            <a:srgbClr val="FFFFFF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Lawyer connect</a:t>
                      </a:r>
                      <a:endParaRPr lang="en-US" sz="1000"/>
                    </a:p>
                  </a:txBody>
                  <a:tcPr marL="8930" marR="8930" marT="8930" marB="893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00" b="1" i="1">
                          <a:solidFill>
                            <a:srgbClr val="FFFFFF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Retrieval-Augmented Generation (RAG) / statute-aware answers</a:t>
                      </a:r>
                      <a:endParaRPr lang="en-US" sz="1000"/>
                    </a:p>
                  </a:txBody>
                  <a:tcPr marL="8930" marR="8930" marT="8930" marB="893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00" b="1" i="1">
                          <a:solidFill>
                            <a:srgbClr val="FFFFFF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Urdu &amp; Roman-Urdu support</a:t>
                      </a:r>
                      <a:endParaRPr lang="en-US" sz="1000"/>
                    </a:p>
                  </a:txBody>
                  <a:tcPr marL="8930" marR="8930" marT="8930" marB="893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00" b="1" i="1">
                          <a:solidFill>
                            <a:srgbClr val="FFFFFF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Voice I/O &amp; OCR inputs</a:t>
                      </a:r>
                      <a:endParaRPr lang="en-US" sz="1000"/>
                    </a:p>
                  </a:txBody>
                  <a:tcPr marL="8930" marR="8930" marT="8930" marB="893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00" b="1" i="1">
                          <a:solidFill>
                            <a:srgbClr val="FFFFFF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Document generation (fillable templates)</a:t>
                      </a:r>
                      <a:endParaRPr lang="en-US" sz="1000"/>
                    </a:p>
                  </a:txBody>
                  <a:tcPr marL="8930" marR="8930" marT="8930" marB="893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00" b="1" i="1">
                          <a:solidFill>
                            <a:srgbClr val="FFFFFF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Provenance &amp; statutory citations shown</a:t>
                      </a:r>
                      <a:endParaRPr lang="en-US" sz="1000"/>
                    </a:p>
                  </a:txBody>
                  <a:tcPr marL="8930" marR="8930" marT="8930" marB="893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2580"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00" b="1" i="1">
                          <a:solidFill>
                            <a:srgbClr val="00B050"/>
                          </a:solidFill>
                          <a:latin typeface="Arial Bold Italics"/>
                          <a:ea typeface="Arial Bold Italics"/>
                          <a:cs typeface="Arial Bold Italics"/>
                          <a:sym typeface="Arial Bold Italics"/>
                        </a:rPr>
                        <a:t>LegalMate (proposed)</a:t>
                      </a:r>
                      <a:endParaRPr lang="en-US" sz="1000"/>
                    </a:p>
                  </a:txBody>
                  <a:tcPr marL="8930" marR="8930" marT="8930" marB="893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public (low-literacy + urban/rural citizens)</a:t>
                      </a:r>
                      <a:endParaRPr lang="en-US" sz="1000"/>
                    </a:p>
                  </a:txBody>
                  <a:tcPr marL="8930" marR="8930" marT="8930" marB="893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Yes,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verified instant connect + recommendation</a:t>
                      </a:r>
                      <a:endParaRPr lang="en-US" sz="1000"/>
                    </a:p>
                  </a:txBody>
                  <a:tcPr marL="8930" marR="8930" marT="8930" marB="893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Yes,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true RAG + Pakistan statute corpus; answers always cite statute/section</a:t>
                      </a:r>
                      <a:endParaRPr lang="en-US" sz="1000"/>
                    </a:p>
                  </a:txBody>
                  <a:tcPr marL="8930" marR="8930" marT="8930" marB="893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Yes,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Urdu + Roman-Urdu</a:t>
                      </a:r>
                      <a:endParaRPr lang="en-US" sz="1000"/>
                    </a:p>
                  </a:txBody>
                  <a:tcPr marL="8930" marR="8930" marT="8930" marB="893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Yes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000"/>
                    </a:p>
                  </a:txBody>
                  <a:tcPr marL="8930" marR="8930" marT="8930" marB="893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Yes,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citizen-facing fillable templates, AI-generated templates</a:t>
                      </a:r>
                      <a:endParaRPr lang="en-US" sz="1000"/>
                    </a:p>
                  </a:txBody>
                  <a:tcPr marL="8930" marR="8930" marT="8930" marB="893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6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Yes,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answer provenance stored &amp; shown</a:t>
                      </a:r>
                      <a:endParaRPr lang="en-US" sz="1000"/>
                    </a:p>
                  </a:txBody>
                  <a:tcPr marL="8930" marR="8930" marT="8930" marB="893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Group 4"/>
          <p:cNvGrpSpPr/>
          <p:nvPr/>
        </p:nvGrpSpPr>
        <p:grpSpPr>
          <a:xfrm>
            <a:off x="2190954" y="396988"/>
            <a:ext cx="4908355" cy="623241"/>
            <a:chOff x="0" y="0"/>
            <a:chExt cx="6980772" cy="886386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6980772" cy="886386"/>
              <a:chOff x="0" y="0"/>
              <a:chExt cx="2635438" cy="33463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635438" cy="334636"/>
              </a:xfrm>
              <a:custGeom>
                <a:avLst/>
                <a:gdLst/>
                <a:ahLst/>
                <a:cxnLst/>
                <a:rect l="l" t="t" r="r" b="b"/>
                <a:pathLst>
                  <a:path w="2635438" h="334636">
                    <a:moveTo>
                      <a:pt x="0" y="0"/>
                    </a:moveTo>
                    <a:lnTo>
                      <a:pt x="2635438" y="0"/>
                    </a:lnTo>
                    <a:lnTo>
                      <a:pt x="2635438" y="334636"/>
                    </a:lnTo>
                    <a:lnTo>
                      <a:pt x="0" y="334636"/>
                    </a:lnTo>
                    <a:close/>
                  </a:path>
                </a:pathLst>
              </a:custGeom>
              <a:solidFill>
                <a:srgbClr val="082B3D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2635438" cy="391786"/>
              </a:xfrm>
              <a:prstGeom prst="rect">
                <a:avLst/>
              </a:prstGeom>
            </p:spPr>
            <p:txBody>
              <a:bodyPr lIns="47625" tIns="47625" rIns="47625" bIns="47625" rtlCol="0" anchor="ctr"/>
              <a:lstStyle/>
              <a:p>
                <a:pPr algn="ctr">
                  <a:lnSpc>
                    <a:spcPts val="3022"/>
                  </a:lnSpc>
                </a:pPr>
                <a:endParaRPr sz="1313"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59108" y="71735"/>
              <a:ext cx="6635235" cy="6427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38"/>
                </a:lnSpc>
                <a:spcBef>
                  <a:spcPct val="0"/>
                </a:spcBef>
              </a:pPr>
              <a:r>
                <a:rPr lang="en-US" sz="2813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COMPARISON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91B526-AC1F-4BEF-802D-7E15A819C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073" y="844800"/>
            <a:ext cx="7001852" cy="560148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8B8A60A-734F-41F7-B612-43934FA18A43}"/>
              </a:ext>
            </a:extLst>
          </p:cNvPr>
          <p:cNvGrpSpPr/>
          <p:nvPr/>
        </p:nvGrpSpPr>
        <p:grpSpPr>
          <a:xfrm>
            <a:off x="2185594" y="107577"/>
            <a:ext cx="4772812" cy="737223"/>
            <a:chOff x="0" y="0"/>
            <a:chExt cx="6363749" cy="98296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947BDEB-DAD2-4035-B894-629DF0675095}"/>
                </a:ext>
              </a:extLst>
            </p:cNvPr>
            <p:cNvGrpSpPr/>
            <p:nvPr/>
          </p:nvGrpSpPr>
          <p:grpSpPr>
            <a:xfrm>
              <a:off x="0" y="0"/>
              <a:ext cx="6363749" cy="982964"/>
              <a:chOff x="0" y="0"/>
              <a:chExt cx="1781045" cy="275106"/>
            </a:xfrm>
          </p:grpSpPr>
          <p:sp>
            <p:nvSpPr>
              <p:cNvPr id="11" name="Freeform 6">
                <a:extLst>
                  <a:ext uri="{FF2B5EF4-FFF2-40B4-BE49-F238E27FC236}">
                    <a16:creationId xmlns:a16="http://schemas.microsoft.com/office/drawing/2014/main" id="{86125BE5-AFCE-4F59-96A6-3DFE12E996B0}"/>
                  </a:ext>
                </a:extLst>
              </p:cNvPr>
              <p:cNvSpPr/>
              <p:nvPr/>
            </p:nvSpPr>
            <p:spPr>
              <a:xfrm>
                <a:off x="0" y="0"/>
                <a:ext cx="1781045" cy="275106"/>
              </a:xfrm>
              <a:custGeom>
                <a:avLst/>
                <a:gdLst/>
                <a:ahLst/>
                <a:cxnLst/>
                <a:rect l="l" t="t" r="r" b="b"/>
                <a:pathLst>
                  <a:path w="1781045" h="275106">
                    <a:moveTo>
                      <a:pt x="0" y="0"/>
                    </a:moveTo>
                    <a:lnTo>
                      <a:pt x="1781045" y="0"/>
                    </a:lnTo>
                    <a:lnTo>
                      <a:pt x="1781045" y="275106"/>
                    </a:lnTo>
                    <a:lnTo>
                      <a:pt x="0" y="275106"/>
                    </a:lnTo>
                    <a:close/>
                  </a:path>
                </a:pathLst>
              </a:custGeom>
              <a:solidFill>
                <a:srgbClr val="082B3D"/>
              </a:solidFill>
            </p:spPr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B098D7-9E5B-4F92-87E3-628522B34DAD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781045" cy="3322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10" name="TextBox 8">
              <a:extLst>
                <a:ext uri="{FF2B5EF4-FFF2-40B4-BE49-F238E27FC236}">
                  <a16:creationId xmlns:a16="http://schemas.microsoft.com/office/drawing/2014/main" id="{4BF002E1-FFE9-4ABE-8CEF-E58ED142F6D1}"/>
                </a:ext>
              </a:extLst>
            </p:cNvPr>
            <p:cNvSpPr txBox="1"/>
            <p:nvPr/>
          </p:nvSpPr>
          <p:spPr>
            <a:xfrm>
              <a:off x="222503" y="120029"/>
              <a:ext cx="5918742" cy="647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Methodology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755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9C9FE-784B-400E-83F3-909535AC7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3975100"/>
          </a:xfrm>
        </p:spPr>
        <p:txBody>
          <a:bodyPr/>
          <a:lstStyle/>
          <a:p>
            <a:pPr marL="342900">
              <a:lnSpc>
                <a:spcPct val="150000"/>
              </a:lnSpc>
              <a:buSzPct val="200000"/>
              <a:tabLst>
                <a:tab pos="457200" algn="l"/>
              </a:tabLst>
            </a:pPr>
            <a:r>
              <a:rPr lang="en-PK" sz="2000" dirty="0">
                <a:effectLst/>
                <a:latin typeface="+mn-lt"/>
                <a:ea typeface="Times New Roman" panose="02020603050405020304" pitchFamily="18" charset="0"/>
              </a:rPr>
              <a:t>User initiates an action through the mobile application</a:t>
            </a:r>
          </a:p>
          <a:p>
            <a:pPr marL="342900">
              <a:lnSpc>
                <a:spcPct val="150000"/>
              </a:lnSpc>
              <a:buSzPct val="200000"/>
              <a:tabLst>
                <a:tab pos="457200" algn="l"/>
              </a:tabLst>
            </a:pPr>
            <a:r>
              <a:rPr lang="en-PK" sz="2000" dirty="0">
                <a:effectLst/>
                <a:latin typeface="+mn-lt"/>
                <a:ea typeface="Times New Roman" panose="02020603050405020304" pitchFamily="18" charset="0"/>
              </a:rPr>
              <a:t>Backend server receives and validates the request</a:t>
            </a:r>
          </a:p>
          <a:p>
            <a:pPr marL="342900">
              <a:lnSpc>
                <a:spcPct val="150000"/>
              </a:lnSpc>
              <a:buSzPct val="200000"/>
              <a:tabLst>
                <a:tab pos="457200" algn="l"/>
              </a:tabLst>
            </a:pPr>
            <a:r>
              <a:rPr lang="en-PK" sz="2000" dirty="0">
                <a:effectLst/>
                <a:latin typeface="+mn-lt"/>
                <a:ea typeface="Times New Roman" panose="02020603050405020304" pitchFamily="18" charset="0"/>
              </a:rPr>
              <a:t>If input is voice or image, it is processed using speech-to-text or OCR</a:t>
            </a:r>
          </a:p>
          <a:p>
            <a:pPr marL="342900">
              <a:lnSpc>
                <a:spcPct val="150000"/>
              </a:lnSpc>
              <a:buSzPct val="200000"/>
              <a:tabLst>
                <a:tab pos="457200" algn="l"/>
              </a:tabLst>
            </a:pPr>
            <a:r>
              <a:rPr lang="en-PK" sz="2000" dirty="0">
                <a:effectLst/>
                <a:latin typeface="+mn-lt"/>
                <a:ea typeface="Times New Roman" panose="02020603050405020304" pitchFamily="18" charset="0"/>
              </a:rPr>
              <a:t>Processed text is forwarded to the AI service</a:t>
            </a:r>
          </a:p>
          <a:p>
            <a:pPr marL="342900">
              <a:lnSpc>
                <a:spcPct val="150000"/>
              </a:lnSpc>
              <a:buSzPct val="200000"/>
              <a:tabLst>
                <a:tab pos="457200" algn="l"/>
              </a:tabLst>
            </a:pPr>
            <a:r>
              <a:rPr lang="en-PK" sz="2000" dirty="0">
                <a:effectLst/>
                <a:latin typeface="+mn-lt"/>
                <a:ea typeface="Times New Roman" panose="02020603050405020304" pitchFamily="18" charset="0"/>
              </a:rPr>
              <a:t>The AI chatbot </a:t>
            </a:r>
            <a:r>
              <a:rPr lang="en-PK" sz="2000" dirty="0" err="1">
                <a:effectLst/>
                <a:latin typeface="+mn-lt"/>
                <a:ea typeface="Times New Roman" panose="02020603050405020304" pitchFamily="18" charset="0"/>
              </a:rPr>
              <a:t>analyzes</a:t>
            </a:r>
            <a:r>
              <a:rPr lang="en-PK" sz="2000" dirty="0">
                <a:effectLst/>
                <a:latin typeface="+mn-lt"/>
                <a:ea typeface="Times New Roman" panose="02020603050405020304" pitchFamily="18" charset="0"/>
              </a:rPr>
              <a:t> the query using a fine-tuned language model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705B5C3-77AC-4105-8C7C-16F0C6DCF1EB}"/>
              </a:ext>
            </a:extLst>
          </p:cNvPr>
          <p:cNvGrpSpPr/>
          <p:nvPr/>
        </p:nvGrpSpPr>
        <p:grpSpPr>
          <a:xfrm>
            <a:off x="2185594" y="363225"/>
            <a:ext cx="4772812" cy="737223"/>
            <a:chOff x="0" y="0"/>
            <a:chExt cx="6363749" cy="98296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ECE2E7F-46D5-4822-98DE-80D80309B1DA}"/>
                </a:ext>
              </a:extLst>
            </p:cNvPr>
            <p:cNvGrpSpPr/>
            <p:nvPr/>
          </p:nvGrpSpPr>
          <p:grpSpPr>
            <a:xfrm>
              <a:off x="0" y="0"/>
              <a:ext cx="6363749" cy="982964"/>
              <a:chOff x="0" y="0"/>
              <a:chExt cx="1781045" cy="275106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393D5F1C-A0B2-4F13-9BF8-FFF769747AEA}"/>
                  </a:ext>
                </a:extLst>
              </p:cNvPr>
              <p:cNvSpPr/>
              <p:nvPr/>
            </p:nvSpPr>
            <p:spPr>
              <a:xfrm>
                <a:off x="0" y="0"/>
                <a:ext cx="1781045" cy="275106"/>
              </a:xfrm>
              <a:custGeom>
                <a:avLst/>
                <a:gdLst/>
                <a:ahLst/>
                <a:cxnLst/>
                <a:rect l="l" t="t" r="r" b="b"/>
                <a:pathLst>
                  <a:path w="1781045" h="275106">
                    <a:moveTo>
                      <a:pt x="0" y="0"/>
                    </a:moveTo>
                    <a:lnTo>
                      <a:pt x="1781045" y="0"/>
                    </a:lnTo>
                    <a:lnTo>
                      <a:pt x="1781045" y="275106"/>
                    </a:lnTo>
                    <a:lnTo>
                      <a:pt x="0" y="275106"/>
                    </a:lnTo>
                    <a:close/>
                  </a:path>
                </a:pathLst>
              </a:custGeom>
              <a:solidFill>
                <a:srgbClr val="082B3D"/>
              </a:solidFill>
            </p:spPr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8CD70E-DC31-4234-BA9E-E4475EABC504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781045" cy="3322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6" name="TextBox 8">
              <a:extLst>
                <a:ext uri="{FF2B5EF4-FFF2-40B4-BE49-F238E27FC236}">
                  <a16:creationId xmlns:a16="http://schemas.microsoft.com/office/drawing/2014/main" id="{3146D91D-442A-436F-B2D0-AEDB4F633E2F}"/>
                </a:ext>
              </a:extLst>
            </p:cNvPr>
            <p:cNvSpPr txBox="1"/>
            <p:nvPr/>
          </p:nvSpPr>
          <p:spPr>
            <a:xfrm>
              <a:off x="222503" y="120029"/>
              <a:ext cx="5918742" cy="664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200" b="1" dirty="0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Step by Step Flow</a:t>
              </a:r>
              <a:endParaRPr lang="en-US" sz="2800" b="1" dirty="0">
                <a:solidFill>
                  <a:schemeClr val="bg1"/>
                </a:solidFill>
                <a:latin typeface="Lato Bold"/>
                <a:ea typeface="Lato Bold"/>
                <a:cs typeface="Lato Bold"/>
                <a:sym typeface="Lato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866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DAF3A-E0B1-4B71-9797-CB0C38056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>
              <a:lnSpc>
                <a:spcPct val="150000"/>
              </a:lnSpc>
              <a:buSzPct val="200000"/>
              <a:tabLst>
                <a:tab pos="457200" algn="l"/>
              </a:tabLst>
            </a:pPr>
            <a:endParaRPr lang="en-PK" sz="20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342900">
              <a:lnSpc>
                <a:spcPct val="150000"/>
              </a:lnSpc>
              <a:buSzPct val="200000"/>
              <a:tabLst>
                <a:tab pos="457200" algn="l"/>
              </a:tabLst>
            </a:pPr>
            <a:r>
              <a:rPr lang="en-PK" sz="2000" dirty="0">
                <a:effectLst/>
                <a:latin typeface="+mn-lt"/>
                <a:ea typeface="Times New Roman" panose="02020603050405020304" pitchFamily="18" charset="0"/>
              </a:rPr>
              <a:t>A simplified legal response is generated</a:t>
            </a:r>
          </a:p>
          <a:p>
            <a:pPr marL="342900">
              <a:lnSpc>
                <a:spcPct val="150000"/>
              </a:lnSpc>
              <a:buSzPct val="200000"/>
              <a:tabLst>
                <a:tab pos="457200" algn="l"/>
              </a:tabLst>
            </a:pPr>
            <a:r>
              <a:rPr lang="en-PK" sz="2000" dirty="0">
                <a:effectLst/>
                <a:latin typeface="+mn-lt"/>
                <a:ea typeface="Times New Roman" panose="02020603050405020304" pitchFamily="18" charset="0"/>
              </a:rPr>
              <a:t>The response is sent back to the mobile application</a:t>
            </a:r>
          </a:p>
          <a:p>
            <a:pPr marL="342900">
              <a:lnSpc>
                <a:spcPct val="150000"/>
              </a:lnSpc>
              <a:buSzPct val="200000"/>
              <a:tabLst>
                <a:tab pos="457200" algn="l"/>
              </a:tabLst>
            </a:pPr>
            <a:r>
              <a:rPr lang="en-PK" sz="2000" dirty="0">
                <a:effectLst/>
                <a:latin typeface="+mn-lt"/>
                <a:ea typeface="Times New Roman" panose="02020603050405020304" pitchFamily="18" charset="0"/>
              </a:rPr>
              <a:t>If the user requests lawyer assistance, the query is forwarded to the selected lawyer</a:t>
            </a:r>
          </a:p>
          <a:p>
            <a:pPr marL="342900">
              <a:lnSpc>
                <a:spcPct val="150000"/>
              </a:lnSpc>
              <a:buSzPct val="200000"/>
              <a:tabLst>
                <a:tab pos="457200" algn="l"/>
              </a:tabLst>
            </a:pPr>
            <a:r>
              <a:rPr lang="en-PK" sz="2000" dirty="0">
                <a:effectLst/>
                <a:latin typeface="+mn-lt"/>
                <a:ea typeface="Times New Roman" panose="02020603050405020304" pitchFamily="18" charset="0"/>
              </a:rPr>
              <a:t>Upon acceptance, the lawyer’s contact details are shared with the user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EB6E01-CD84-4E16-9633-FBF898559493}"/>
              </a:ext>
            </a:extLst>
          </p:cNvPr>
          <p:cNvGrpSpPr/>
          <p:nvPr/>
        </p:nvGrpSpPr>
        <p:grpSpPr>
          <a:xfrm>
            <a:off x="2185594" y="363225"/>
            <a:ext cx="4772812" cy="737223"/>
            <a:chOff x="0" y="0"/>
            <a:chExt cx="6363749" cy="98296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AFC873E-A40E-488C-8DDF-48139B9A609E}"/>
                </a:ext>
              </a:extLst>
            </p:cNvPr>
            <p:cNvGrpSpPr/>
            <p:nvPr/>
          </p:nvGrpSpPr>
          <p:grpSpPr>
            <a:xfrm>
              <a:off x="0" y="0"/>
              <a:ext cx="6363749" cy="982964"/>
              <a:chOff x="0" y="0"/>
              <a:chExt cx="1781045" cy="275106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E3529BDF-85CA-44AC-A060-148C4BE2C2EC}"/>
                  </a:ext>
                </a:extLst>
              </p:cNvPr>
              <p:cNvSpPr/>
              <p:nvPr/>
            </p:nvSpPr>
            <p:spPr>
              <a:xfrm>
                <a:off x="0" y="0"/>
                <a:ext cx="1781045" cy="275106"/>
              </a:xfrm>
              <a:custGeom>
                <a:avLst/>
                <a:gdLst/>
                <a:ahLst/>
                <a:cxnLst/>
                <a:rect l="l" t="t" r="r" b="b"/>
                <a:pathLst>
                  <a:path w="1781045" h="275106">
                    <a:moveTo>
                      <a:pt x="0" y="0"/>
                    </a:moveTo>
                    <a:lnTo>
                      <a:pt x="1781045" y="0"/>
                    </a:lnTo>
                    <a:lnTo>
                      <a:pt x="1781045" y="275106"/>
                    </a:lnTo>
                    <a:lnTo>
                      <a:pt x="0" y="275106"/>
                    </a:lnTo>
                    <a:close/>
                  </a:path>
                </a:pathLst>
              </a:custGeom>
              <a:solidFill>
                <a:srgbClr val="082B3D"/>
              </a:solidFill>
            </p:spPr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A06255-BD94-42E5-8E5A-8169EE28224E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781045" cy="3322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6" name="TextBox 8">
              <a:extLst>
                <a:ext uri="{FF2B5EF4-FFF2-40B4-BE49-F238E27FC236}">
                  <a16:creationId xmlns:a16="http://schemas.microsoft.com/office/drawing/2014/main" id="{4C7B8D03-3DFD-44D8-9EE8-851989E88A86}"/>
                </a:ext>
              </a:extLst>
            </p:cNvPr>
            <p:cNvSpPr txBox="1"/>
            <p:nvPr/>
          </p:nvSpPr>
          <p:spPr>
            <a:xfrm>
              <a:off x="222503" y="120029"/>
              <a:ext cx="5918742" cy="664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200" b="1" dirty="0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Step by Step Flow</a:t>
              </a:r>
              <a:endParaRPr lang="en-US" sz="2800" b="1" dirty="0">
                <a:solidFill>
                  <a:schemeClr val="bg1"/>
                </a:solidFill>
                <a:latin typeface="Lato Bold"/>
                <a:ea typeface="Lato Bold"/>
                <a:cs typeface="Lato Bold"/>
                <a:sym typeface="Lato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2434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PROGRESS REPORT</a:t>
            </a:r>
            <a:br>
              <a:rPr lang="en-US" dirty="0"/>
            </a:br>
            <a:r>
              <a:rPr lang="en-US" dirty="0"/>
              <a:t>SUMMARY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2752170-8982-44B1-B802-0AD3FA5970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4271979"/>
              </p:ext>
            </p:extLst>
          </p:nvPr>
        </p:nvGraphicFramePr>
        <p:xfrm>
          <a:off x="695528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75C72BF-2101-4840-9C41-190996C525B9}"/>
              </a:ext>
            </a:extLst>
          </p:cNvPr>
          <p:cNvGrpSpPr/>
          <p:nvPr/>
        </p:nvGrpSpPr>
        <p:grpSpPr>
          <a:xfrm>
            <a:off x="2185594" y="210076"/>
            <a:ext cx="4772812" cy="890372"/>
            <a:chOff x="0" y="-204199"/>
            <a:chExt cx="6363749" cy="118716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31E1CAC-1851-453E-905B-9739B007F6BF}"/>
                </a:ext>
              </a:extLst>
            </p:cNvPr>
            <p:cNvSpPr txBox="1"/>
            <p:nvPr/>
          </p:nvSpPr>
          <p:spPr>
            <a:xfrm>
              <a:off x="0" y="-204199"/>
              <a:ext cx="6363749" cy="1187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C3D9089-1A24-46A5-810B-7E23D48CC68F}"/>
                </a:ext>
              </a:extLst>
            </p:cNvPr>
            <p:cNvSpPr txBox="1"/>
            <p:nvPr/>
          </p:nvSpPr>
          <p:spPr>
            <a:xfrm>
              <a:off x="222503" y="120029"/>
              <a:ext cx="5918742" cy="718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4000" dirty="0">
                  <a:solidFill>
                    <a:schemeClr val="tx1"/>
                  </a:solidFill>
                  <a:latin typeface="Lato Bold"/>
                  <a:ea typeface="Lato Bold"/>
                  <a:cs typeface="Lato Bold"/>
                  <a:sym typeface="Lato Bold"/>
                </a:rPr>
                <a:t>Users</a:t>
              </a:r>
              <a:endParaRPr lang="en-US" sz="3600" dirty="0">
                <a:solidFill>
                  <a:schemeClr val="tx1"/>
                </a:solidFill>
                <a:latin typeface="Lato Bold"/>
                <a:ea typeface="Lato Bold"/>
                <a:cs typeface="Lato Bold"/>
                <a:sym typeface="Lato Bold"/>
              </a:endParaRPr>
            </a:p>
          </p:txBody>
        </p:sp>
      </p:grpSp>
      <p:sp>
        <p:nvSpPr>
          <p:cNvPr id="12" name="Freeform 8">
            <a:extLst>
              <a:ext uri="{FF2B5EF4-FFF2-40B4-BE49-F238E27FC236}">
                <a16:creationId xmlns:a16="http://schemas.microsoft.com/office/drawing/2014/main" id="{1EC67E1B-B2CA-41EA-B96A-0E2162E9DE11}"/>
              </a:ext>
            </a:extLst>
          </p:cNvPr>
          <p:cNvSpPr/>
          <p:nvPr/>
        </p:nvSpPr>
        <p:spPr>
          <a:xfrm>
            <a:off x="7771659" y="387513"/>
            <a:ext cx="1106312" cy="5692442"/>
          </a:xfrm>
          <a:custGeom>
            <a:avLst/>
            <a:gdLst/>
            <a:ahLst/>
            <a:cxnLst/>
            <a:rect l="l" t="t" r="r" b="b"/>
            <a:pathLst>
              <a:path w="368852" h="2577637">
                <a:moveTo>
                  <a:pt x="0" y="0"/>
                </a:moveTo>
                <a:lnTo>
                  <a:pt x="368852" y="0"/>
                </a:lnTo>
                <a:lnTo>
                  <a:pt x="368852" y="2577637"/>
                </a:lnTo>
                <a:lnTo>
                  <a:pt x="0" y="2577637"/>
                </a:lnTo>
                <a:close/>
              </a:path>
            </a:pathLst>
          </a:custGeom>
          <a:solidFill>
            <a:srgbClr val="193B69"/>
          </a:solidFill>
        </p:spPr>
        <p:txBody>
          <a:bodyPr/>
          <a:lstStyle/>
          <a:p>
            <a:endParaRPr lang="en-PK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755C8C4-DE80-4CF7-BFB6-A271FA99614E}"/>
              </a:ext>
            </a:extLst>
          </p:cNvPr>
          <p:cNvSpPr/>
          <p:nvPr/>
        </p:nvSpPr>
        <p:spPr>
          <a:xfrm>
            <a:off x="8086165" y="722551"/>
            <a:ext cx="430306" cy="50507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E5BB-618A-422C-A6BF-3A77440B2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0628"/>
            <a:ext cx="8229600" cy="861826"/>
          </a:xfrm>
        </p:spPr>
        <p:txBody>
          <a:bodyPr/>
          <a:lstStyle/>
          <a:p>
            <a:r>
              <a:rPr lang="en-PK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Cases / User Stories</a:t>
            </a:r>
            <a:endParaRPr lang="en-PK" sz="8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93625C-49D6-46C2-AEF6-5A4478D731A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610" y="730588"/>
            <a:ext cx="5546837" cy="56881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6172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EBA8D-8DA6-4C21-B117-434D8DC5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6153B-55A3-4C7A-9913-3B1B51A77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66018"/>
            <a:ext cx="8140700" cy="4587082"/>
          </a:xfrm>
        </p:spPr>
        <p:txBody>
          <a:bodyPr numCol="2"/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PK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system shall</a:t>
            </a:r>
            <a:endParaRPr lang="en-US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allow users to register and log in securely</a:t>
            </a:r>
            <a:endParaRPr lang="en-PK" sz="2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accept legal queries in text, voice, and image formats</a:t>
            </a:r>
            <a:endParaRPr lang="en-PK" sz="2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 voice input into text</a:t>
            </a:r>
            <a:endParaRPr lang="en-PK" sz="2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 document images using OCR</a:t>
            </a:r>
            <a:endParaRPr lang="en-PK" sz="2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generate simplified legal explanations using an AI chatbot</a:t>
            </a:r>
            <a:endParaRPr lang="en-PK" sz="2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generate basic legal documents in downloadable format</a:t>
            </a:r>
            <a:endParaRPr lang="en-PK" sz="2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allow users to select and contact registered lawyers</a:t>
            </a:r>
            <a:endParaRPr lang="en-PK" sz="2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allow lawyers to accept or reject user requests</a:t>
            </a:r>
            <a:endParaRPr lang="en-PK" sz="2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allow admins to manage users, lawyers, and content</a:t>
            </a:r>
            <a:endParaRPr lang="en-PK" sz="2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03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E6ADF-9533-4D7B-8C05-E0C4009A7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D29D-9239-46EE-9F65-83ADD3C46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SzPct val="59000"/>
              <a:buNone/>
              <a:tabLst>
                <a:tab pos="457200" algn="l"/>
              </a:tabLst>
            </a:pPr>
            <a:r>
              <a:rPr lang="en-PK" sz="2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system shall </a:t>
            </a:r>
            <a:endParaRPr lang="en-US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SzPct val="59000"/>
              <a:tabLst>
                <a:tab pos="457200" algn="l"/>
              </a:tabLst>
            </a:pPr>
            <a:r>
              <a:rPr lang="en-PK" sz="2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 user-friendly and easy to navigate</a:t>
            </a:r>
            <a:endParaRPr lang="en-PK" sz="2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SzPct val="59000"/>
              <a:tabLst>
                <a:tab pos="457200" algn="l"/>
              </a:tabLst>
            </a:pPr>
            <a:r>
              <a:rPr lang="en-PK" sz="2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 timely responses to user queries</a:t>
            </a:r>
            <a:endParaRPr lang="en-PK" sz="2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SzPct val="59000"/>
              <a:tabLst>
                <a:tab pos="457200" algn="l"/>
              </a:tabLst>
            </a:pPr>
            <a:r>
              <a:rPr lang="en-PK" sz="2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ensure data privacy and security</a:t>
            </a:r>
            <a:endParaRPr lang="en-PK" sz="2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SzPct val="59000"/>
              <a:tabLst>
                <a:tab pos="457200" algn="l"/>
              </a:tabLst>
            </a:pPr>
            <a:r>
              <a:rPr lang="en-PK" sz="2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 scalable for future feature expansion</a:t>
            </a:r>
            <a:endParaRPr lang="en-PK" sz="2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SzPct val="59000"/>
              <a:tabLst>
                <a:tab pos="457200" algn="l"/>
              </a:tabLst>
            </a:pPr>
            <a:r>
              <a:rPr lang="en-PK" sz="2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ensure reliable performance under normal usage</a:t>
            </a:r>
            <a:endParaRPr lang="en-PK" sz="2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8700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Design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10416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>
            <a:spLocks noGrp="1"/>
          </p:cNvSpPr>
          <p:nvPr>
            <p:ph type="title"/>
          </p:nvPr>
        </p:nvSpPr>
        <p:spPr>
          <a:xfrm>
            <a:off x="457200" y="1349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Architecture Diagram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152BF3-7765-4870-B457-789FE774916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65412"/>
            <a:ext cx="8005482" cy="4670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ER-Diagram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DBABD0-6F38-4BAD-9BE5-BE6FE225C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5370"/>
            <a:ext cx="9144000" cy="40872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E527342-B6FC-4D2C-965F-AC049B8C2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159" y="1092200"/>
            <a:ext cx="7350541" cy="5336723"/>
          </a:xfrm>
          <a:prstGeom prst="rect">
            <a:avLst/>
          </a:prstGeom>
        </p:spPr>
      </p:pic>
      <p:sp>
        <p:nvSpPr>
          <p:cNvPr id="9" name="Google Shape;151;p11">
            <a:extLst>
              <a:ext uri="{FF2B5EF4-FFF2-40B4-BE49-F238E27FC236}">
                <a16:creationId xmlns:a16="http://schemas.microsoft.com/office/drawing/2014/main" id="{19CB6A96-EE25-4895-A9C8-3EBEB144A4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603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Sequence Diagram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46137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Implementation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88364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PK" sz="4000" b="1" dirty="0"/>
              <a:t>Development Tools &amp; Technologies</a:t>
            </a:r>
            <a:endParaRPr sz="4000" b="1" dirty="0"/>
          </a:p>
        </p:txBody>
      </p:sp>
      <p:sp>
        <p:nvSpPr>
          <p:cNvPr id="158" name="Google Shape;158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buSzPts val="1000"/>
              <a:tabLst>
                <a:tab pos="457200" algn="l"/>
              </a:tabLst>
            </a:pPr>
            <a:r>
              <a:rPr lang="en-PK" sz="2400" dirty="0"/>
              <a:t>Frontend: Flutter (Dart)</a:t>
            </a:r>
          </a:p>
          <a:p>
            <a:pPr marL="342900">
              <a:buSzPts val="1000"/>
              <a:tabLst>
                <a:tab pos="457200" algn="l"/>
              </a:tabLst>
            </a:pPr>
            <a:r>
              <a:rPr lang="en-PK" sz="2400" dirty="0"/>
              <a:t>Backend: Node.js</a:t>
            </a:r>
          </a:p>
          <a:p>
            <a:pPr marL="342900">
              <a:buSzPts val="1000"/>
              <a:tabLst>
                <a:tab pos="457200" algn="l"/>
              </a:tabLst>
            </a:pPr>
            <a:r>
              <a:rPr lang="en-PK" sz="2400" dirty="0"/>
              <a:t>ML Service: Python (</a:t>
            </a:r>
            <a:r>
              <a:rPr lang="en-PK" sz="2400" dirty="0" err="1"/>
              <a:t>FastAPI</a:t>
            </a:r>
            <a:r>
              <a:rPr lang="en-PK" sz="2400" dirty="0"/>
              <a:t>-based REST API)</a:t>
            </a:r>
          </a:p>
          <a:p>
            <a:pPr marL="342900">
              <a:buSzPts val="1000"/>
              <a:tabLst>
                <a:tab pos="457200" algn="l"/>
              </a:tabLst>
            </a:pPr>
            <a:r>
              <a:rPr lang="en-PK" sz="2400" dirty="0"/>
              <a:t>Model Training &amp; Experiments:</a:t>
            </a:r>
          </a:p>
          <a:p>
            <a:pPr marL="800100" lvl="1">
              <a:buSzPts val="1000"/>
              <a:tabLst>
                <a:tab pos="914400" algn="l"/>
              </a:tabLst>
            </a:pPr>
            <a:r>
              <a:rPr lang="en-PK" sz="2400" dirty="0"/>
              <a:t>Google </a:t>
            </a:r>
            <a:r>
              <a:rPr lang="en-PK" sz="2400" dirty="0" err="1"/>
              <a:t>Colab</a:t>
            </a:r>
            <a:endParaRPr lang="en-PK" sz="2400" dirty="0"/>
          </a:p>
          <a:p>
            <a:pPr marL="800100" lvl="1">
              <a:buSzPts val="1000"/>
              <a:tabLst>
                <a:tab pos="914400" algn="l"/>
              </a:tabLst>
            </a:pPr>
            <a:r>
              <a:rPr lang="en-PK" sz="2400" dirty="0"/>
              <a:t>VS Code</a:t>
            </a:r>
          </a:p>
          <a:p>
            <a:pPr marL="800100" lvl="1">
              <a:buSzPts val="1000"/>
              <a:tabLst>
                <a:tab pos="914400" algn="l"/>
              </a:tabLst>
            </a:pPr>
            <a:r>
              <a:rPr lang="en-PK" sz="2400" dirty="0"/>
              <a:t>Antigravity</a:t>
            </a:r>
          </a:p>
          <a:p>
            <a:pPr marL="342900">
              <a:buSzPts val="1000"/>
              <a:tabLst>
                <a:tab pos="457200" algn="l"/>
              </a:tabLst>
            </a:pPr>
            <a:r>
              <a:rPr lang="en-PK" sz="2400" dirty="0"/>
              <a:t>Model Deployment: API-based local deployment</a:t>
            </a:r>
            <a:endParaRPr lang="en-US" sz="2400" dirty="0"/>
          </a:p>
        </p:txBody>
      </p:sp>
      <p:sp>
        <p:nvSpPr>
          <p:cNvPr id="4" name="Freeform 19">
            <a:extLst>
              <a:ext uri="{FF2B5EF4-FFF2-40B4-BE49-F238E27FC236}">
                <a16:creationId xmlns:a16="http://schemas.microsoft.com/office/drawing/2014/main" id="{8BF860F5-30E5-495B-A463-61CC2DC7731F}"/>
              </a:ext>
            </a:extLst>
          </p:cNvPr>
          <p:cNvSpPr/>
          <p:nvPr/>
        </p:nvSpPr>
        <p:spPr>
          <a:xfrm>
            <a:off x="7414448" y="1944707"/>
            <a:ext cx="781101" cy="585826"/>
          </a:xfrm>
          <a:custGeom>
            <a:avLst/>
            <a:gdLst/>
            <a:ahLst/>
            <a:cxnLst/>
            <a:rect l="l" t="t" r="r" b="b"/>
            <a:pathLst>
              <a:path w="781101" h="585826">
                <a:moveTo>
                  <a:pt x="0" y="0"/>
                </a:moveTo>
                <a:lnTo>
                  <a:pt x="781101" y="0"/>
                </a:lnTo>
                <a:lnTo>
                  <a:pt x="781101" y="585826"/>
                </a:lnTo>
                <a:lnTo>
                  <a:pt x="0" y="5858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A0664120-5249-42E1-9FB2-4E75687CAB05}"/>
              </a:ext>
            </a:extLst>
          </p:cNvPr>
          <p:cNvSpPr/>
          <p:nvPr/>
        </p:nvSpPr>
        <p:spPr>
          <a:xfrm>
            <a:off x="7414448" y="2592867"/>
            <a:ext cx="808779" cy="808779"/>
          </a:xfrm>
          <a:custGeom>
            <a:avLst/>
            <a:gdLst/>
            <a:ahLst/>
            <a:cxnLst/>
            <a:rect l="l" t="t" r="r" b="b"/>
            <a:pathLst>
              <a:path w="808779" h="808779">
                <a:moveTo>
                  <a:pt x="0" y="0"/>
                </a:moveTo>
                <a:lnTo>
                  <a:pt x="808779" y="0"/>
                </a:lnTo>
                <a:lnTo>
                  <a:pt x="808779" y="808779"/>
                </a:lnTo>
                <a:lnTo>
                  <a:pt x="0" y="8087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B583D16D-3E10-41FB-AEC8-E5148DD5EC7B}"/>
              </a:ext>
            </a:extLst>
          </p:cNvPr>
          <p:cNvSpPr/>
          <p:nvPr/>
        </p:nvSpPr>
        <p:spPr>
          <a:xfrm>
            <a:off x="7423493" y="3463980"/>
            <a:ext cx="763010" cy="763010"/>
          </a:xfrm>
          <a:custGeom>
            <a:avLst/>
            <a:gdLst/>
            <a:ahLst/>
            <a:cxnLst/>
            <a:rect l="l" t="t" r="r" b="b"/>
            <a:pathLst>
              <a:path w="763010" h="763010">
                <a:moveTo>
                  <a:pt x="0" y="0"/>
                </a:moveTo>
                <a:lnTo>
                  <a:pt x="763010" y="0"/>
                </a:lnTo>
                <a:lnTo>
                  <a:pt x="763010" y="763010"/>
                </a:lnTo>
                <a:lnTo>
                  <a:pt x="0" y="7630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336E336E-3D5C-4AA1-B899-32E6639936D2}"/>
              </a:ext>
            </a:extLst>
          </p:cNvPr>
          <p:cNvSpPr/>
          <p:nvPr/>
        </p:nvSpPr>
        <p:spPr>
          <a:xfrm>
            <a:off x="7414448" y="4425223"/>
            <a:ext cx="680621" cy="680621"/>
          </a:xfrm>
          <a:custGeom>
            <a:avLst/>
            <a:gdLst/>
            <a:ahLst/>
            <a:cxnLst/>
            <a:rect l="l" t="t" r="r" b="b"/>
            <a:pathLst>
              <a:path w="680621" h="680621">
                <a:moveTo>
                  <a:pt x="0" y="0"/>
                </a:moveTo>
                <a:lnTo>
                  <a:pt x="680621" y="0"/>
                </a:lnTo>
                <a:lnTo>
                  <a:pt x="680621" y="680621"/>
                </a:lnTo>
                <a:lnTo>
                  <a:pt x="0" y="680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7AA94-CAF5-48AD-8498-F9E095E3E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Best Practices / Coding Standards</a:t>
            </a:r>
            <a:endParaRPr lang="en-PK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20E10-D421-41E0-848E-D3C25EF4C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400" b="1" dirty="0"/>
              <a:t>Modular</a:t>
            </a:r>
            <a:r>
              <a:rPr lang="en-PK" sz="2400" dirty="0"/>
              <a:t> code structure for </a:t>
            </a:r>
            <a:r>
              <a:rPr lang="en-PK" sz="2400" b="1" dirty="0"/>
              <a:t>backend</a:t>
            </a:r>
            <a:r>
              <a:rPr lang="en-PK" sz="2400" dirty="0"/>
              <a:t> and </a:t>
            </a:r>
            <a:r>
              <a:rPr lang="en-PK" sz="2400" b="1" dirty="0"/>
              <a:t>ML</a:t>
            </a:r>
            <a:r>
              <a:rPr lang="en-PK" sz="2400" dirty="0"/>
              <a:t> </a:t>
            </a:r>
            <a:r>
              <a:rPr lang="en-PK" sz="2400" b="1" dirty="0"/>
              <a:t>services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400" b="1" dirty="0"/>
              <a:t>Separation</a:t>
            </a:r>
            <a:r>
              <a:rPr lang="en-PK" sz="2400" dirty="0"/>
              <a:t> of concerns between UI, backend, and AI service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400" dirty="0"/>
              <a:t>Use of </a:t>
            </a:r>
            <a:r>
              <a:rPr lang="en-PK" sz="2400" b="1" dirty="0"/>
              <a:t>REST</a:t>
            </a:r>
            <a:r>
              <a:rPr lang="en-PK" sz="2400" dirty="0"/>
              <a:t> </a:t>
            </a:r>
            <a:r>
              <a:rPr lang="en-PK" sz="2400" b="1" dirty="0"/>
              <a:t>APIs</a:t>
            </a:r>
            <a:r>
              <a:rPr lang="en-PK" sz="2400" dirty="0"/>
              <a:t> for communication between </a:t>
            </a:r>
            <a:r>
              <a:rPr lang="en-PK" sz="2400" b="1" dirty="0"/>
              <a:t>components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400" dirty="0"/>
              <a:t>Consistent </a:t>
            </a:r>
            <a:r>
              <a:rPr lang="en-PK" sz="2400" b="1" dirty="0"/>
              <a:t>dataset</a:t>
            </a:r>
            <a:r>
              <a:rPr lang="en-PK" sz="2400" dirty="0"/>
              <a:t> schema (instruction–input–output format)</a:t>
            </a:r>
            <a:endParaRPr lang="en-US" sz="2400" dirty="0"/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400" b="1" dirty="0"/>
              <a:t>Logging</a:t>
            </a:r>
            <a:r>
              <a:rPr lang="en-PK" sz="2400" dirty="0"/>
              <a:t> and </a:t>
            </a:r>
            <a:r>
              <a:rPr lang="en-PK" sz="2400" b="1" dirty="0"/>
              <a:t>checkpoint-based</a:t>
            </a:r>
            <a:r>
              <a:rPr lang="en-PK" sz="2400" dirty="0"/>
              <a:t> </a:t>
            </a:r>
            <a:r>
              <a:rPr lang="en-PK" sz="2400" b="1" dirty="0"/>
              <a:t>training</a:t>
            </a:r>
            <a:r>
              <a:rPr lang="en-PK" sz="2400" dirty="0"/>
              <a:t> for reliability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A89F2E3-4268-46F4-A646-BFE8D3A95C15}"/>
              </a:ext>
            </a:extLst>
          </p:cNvPr>
          <p:cNvSpPr/>
          <p:nvPr/>
        </p:nvSpPr>
        <p:spPr>
          <a:xfrm>
            <a:off x="7600200" y="4712309"/>
            <a:ext cx="758815" cy="758815"/>
          </a:xfrm>
          <a:custGeom>
            <a:avLst/>
            <a:gdLst/>
            <a:ahLst/>
            <a:cxnLst/>
            <a:rect l="l" t="t" r="r" b="b"/>
            <a:pathLst>
              <a:path w="758815" h="758815">
                <a:moveTo>
                  <a:pt x="0" y="0"/>
                </a:moveTo>
                <a:lnTo>
                  <a:pt x="758815" y="0"/>
                </a:lnTo>
                <a:lnTo>
                  <a:pt x="758815" y="758815"/>
                </a:lnTo>
                <a:lnTo>
                  <a:pt x="0" y="758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52519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7BCB4-656D-4AA8-90D7-08D4E38A8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r>
              <a:rPr lang="en-PK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Libraries / Frameworks / Components</a:t>
            </a:r>
            <a:endParaRPr lang="en-PK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9EC0F-C49F-4CB0-B1CA-6DAC59E17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38238"/>
            <a:ext cx="8229600" cy="4274343"/>
          </a:xfrm>
        </p:spPr>
        <p:txBody>
          <a:bodyPr/>
          <a:lstStyle/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b="1" dirty="0"/>
              <a:t>Transformers</a:t>
            </a:r>
            <a:r>
              <a:rPr lang="en-PK" sz="2800" dirty="0"/>
              <a:t> (Hugging Face)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b="1" dirty="0"/>
              <a:t>PEFT</a:t>
            </a:r>
            <a:r>
              <a:rPr lang="en-PK" sz="2800" dirty="0"/>
              <a:t> (</a:t>
            </a:r>
            <a:r>
              <a:rPr lang="en-PK" sz="2800" dirty="0" err="1"/>
              <a:t>LoRA</a:t>
            </a:r>
            <a:r>
              <a:rPr lang="en-PK" sz="2800" dirty="0"/>
              <a:t> utilities)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b="1" dirty="0" err="1"/>
              <a:t>BitsAndBytes</a:t>
            </a:r>
            <a:r>
              <a:rPr lang="en-PK" sz="2800" dirty="0"/>
              <a:t> (4-bit / 8-bit quantization)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Datasets &amp; Accelerate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b="1" dirty="0" err="1"/>
              <a:t>FastAPI</a:t>
            </a:r>
            <a:r>
              <a:rPr lang="en-PK" sz="2800" dirty="0"/>
              <a:t> for AI service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b="1" dirty="0" err="1"/>
              <a:t>PyTorch</a:t>
            </a:r>
            <a:r>
              <a:rPr lang="en-PK" sz="2800" dirty="0"/>
              <a:t> for training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b="1" dirty="0" err="1"/>
              <a:t>TensorBoard</a:t>
            </a:r>
            <a:r>
              <a:rPr lang="en-PK" sz="2800" dirty="0"/>
              <a:t> for training monitoring</a:t>
            </a:r>
          </a:p>
        </p:txBody>
      </p:sp>
    </p:spTree>
    <p:extLst>
      <p:ext uri="{BB962C8B-B14F-4D97-AF65-F5344CB8AC3E}">
        <p14:creationId xmlns:p14="http://schemas.microsoft.com/office/powerpoint/2010/main" val="30425100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83B5F-A639-482C-9598-CB1A83F42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 Interface (Current Status)</a:t>
            </a:r>
            <a:endParaRPr lang="en-PK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02784-7C68-4F4A-B394-32F006157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A </a:t>
            </a:r>
            <a:r>
              <a:rPr lang="en-PK" sz="2800" b="1" dirty="0"/>
              <a:t>basic</a:t>
            </a:r>
            <a:r>
              <a:rPr lang="en-PK" sz="2800" dirty="0"/>
              <a:t> mobile user interface has been designed using </a:t>
            </a:r>
            <a:r>
              <a:rPr lang="en-PK" sz="2800" b="1" dirty="0"/>
              <a:t>Flutter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/>
              <a:t>Simple </a:t>
            </a:r>
            <a:r>
              <a:rPr lang="en-PK" sz="2800" dirty="0"/>
              <a:t>interface for </a:t>
            </a:r>
            <a:r>
              <a:rPr lang="en-PK" sz="2800" b="1" dirty="0"/>
              <a:t>user</a:t>
            </a:r>
            <a:r>
              <a:rPr lang="en-PK" sz="2800" dirty="0"/>
              <a:t> interaction with the </a:t>
            </a:r>
            <a:r>
              <a:rPr lang="en-PK" sz="2800" b="1" dirty="0"/>
              <a:t>chatbot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Current implementation focuses on </a:t>
            </a:r>
            <a:r>
              <a:rPr lang="en-PK" sz="2800" b="1" dirty="0"/>
              <a:t>connecting</a:t>
            </a:r>
            <a:r>
              <a:rPr lang="en-PK" sz="2800" dirty="0"/>
              <a:t> the UI with the backend API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Advanced UI features and complete user flows will be implemented in the </a:t>
            </a:r>
            <a:r>
              <a:rPr lang="en-PK" sz="2800" b="1" dirty="0"/>
              <a:t>next phase </a:t>
            </a:r>
            <a:r>
              <a:rPr lang="en-PK" sz="2800" dirty="0"/>
              <a:t>of the project</a:t>
            </a:r>
          </a:p>
        </p:txBody>
      </p:sp>
    </p:spTree>
    <p:extLst>
      <p:ext uri="{BB962C8B-B14F-4D97-AF65-F5344CB8AC3E}">
        <p14:creationId xmlns:p14="http://schemas.microsoft.com/office/powerpoint/2010/main" val="19057409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B8E1F-B94B-43C4-BC1E-F2C054478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Chatbot Implementation Overview</a:t>
            </a:r>
            <a:endParaRPr lang="en-PK" sz="40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DFD1D-DED9-467A-8031-0C3541623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The chatbot is implemented using a </a:t>
            </a:r>
            <a:r>
              <a:rPr lang="en-PK" sz="2800" b="1" dirty="0"/>
              <a:t>fine-tuned </a:t>
            </a:r>
            <a:r>
              <a:rPr lang="en-PK" sz="2800" dirty="0"/>
              <a:t>large language model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The </a:t>
            </a:r>
            <a:r>
              <a:rPr lang="en-PK" sz="2800" b="1" dirty="0"/>
              <a:t>selected </a:t>
            </a:r>
            <a:r>
              <a:rPr lang="en-PK" sz="2800" dirty="0"/>
              <a:t>model is Qwen2.5–1.5B-Instruct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The chatbot is </a:t>
            </a:r>
            <a:r>
              <a:rPr lang="en-PK" sz="2800" b="1" dirty="0"/>
              <a:t>deployed </a:t>
            </a:r>
            <a:r>
              <a:rPr lang="en-PK" sz="2800" dirty="0"/>
              <a:t>as a REST API service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Backend forwards user queries to the chatbot service</a:t>
            </a:r>
            <a:endParaRPr lang="en-US" sz="2800" dirty="0"/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The chatbot </a:t>
            </a:r>
            <a:r>
              <a:rPr lang="en-PK" sz="2800" b="1" dirty="0"/>
              <a:t>generates</a:t>
            </a:r>
            <a:r>
              <a:rPr lang="en-PK" sz="2800" dirty="0"/>
              <a:t> simplified legal explanations</a:t>
            </a:r>
            <a:r>
              <a:rPr lang="en-US" sz="2800" dirty="0"/>
              <a:t> and </a:t>
            </a:r>
            <a:r>
              <a:rPr lang="en-US" sz="2800" b="1" dirty="0"/>
              <a:t>provides</a:t>
            </a:r>
            <a:r>
              <a:rPr lang="en-US" sz="2800" dirty="0"/>
              <a:t> legal guidance and assistance</a:t>
            </a:r>
          </a:p>
        </p:txBody>
      </p:sp>
    </p:spTree>
    <p:extLst>
      <p:ext uri="{BB962C8B-B14F-4D97-AF65-F5344CB8AC3E}">
        <p14:creationId xmlns:p14="http://schemas.microsoft.com/office/powerpoint/2010/main" val="906225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B63FD-8018-441C-B637-3A7BCEB28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sz="40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Hardware Environment for</a:t>
            </a:r>
            <a:br>
              <a:rPr lang="en-US" sz="40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PK" sz="40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Fine-Tuning</a:t>
            </a:r>
            <a:endParaRPr lang="en-PK" sz="40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4EE74-EE1C-43CA-B375-A5301AD2C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b="1" dirty="0"/>
              <a:t>Operating System</a:t>
            </a:r>
            <a:r>
              <a:rPr lang="en-PK" dirty="0"/>
              <a:t>: Windows 1</a:t>
            </a:r>
            <a:r>
              <a:rPr lang="en-US" dirty="0"/>
              <a:t>1</a:t>
            </a:r>
            <a:endParaRPr lang="en-PK" dirty="0"/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b="1" dirty="0"/>
              <a:t>Python Version</a:t>
            </a:r>
            <a:r>
              <a:rPr lang="en-PK" dirty="0"/>
              <a:t>: 3.10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b="1" dirty="0"/>
              <a:t>GPU</a:t>
            </a:r>
            <a:r>
              <a:rPr lang="en-PK" dirty="0"/>
              <a:t>: NVIDIA GeForce RTX 3060 (12 GB VRAM)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/>
              <a:t>Ram</a:t>
            </a:r>
            <a:r>
              <a:rPr lang="en-US" dirty="0"/>
              <a:t>: 16 GB</a:t>
            </a:r>
            <a:endParaRPr lang="en-PK" dirty="0"/>
          </a:p>
          <a:p>
            <a:pPr>
              <a:lnSpc>
                <a:spcPct val="150000"/>
              </a:lnSpc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886039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5343-0A95-441C-ADA4-503A3FBD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sz="40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Collection and Preparation</a:t>
            </a:r>
            <a:endParaRPr lang="en-PK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A3D54-B186-47A9-B5EC-DBBF10741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Data collected from multiple sources including: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400" dirty="0"/>
              <a:t>Kaggle</a:t>
            </a:r>
            <a:r>
              <a:rPr lang="en-US" sz="2400" dirty="0"/>
              <a:t> / Hugging face</a:t>
            </a:r>
            <a:endParaRPr lang="en-PK" sz="2400" dirty="0"/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400" dirty="0"/>
              <a:t>GitHub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400" dirty="0"/>
              <a:t>Pakistani law websites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Data focused primarily on property law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Original data formats included: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400" dirty="0"/>
              <a:t>PDF documents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400" dirty="0"/>
              <a:t>Plain text files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Extensive data cleaning and pre</a:t>
            </a:r>
            <a:r>
              <a:rPr lang="en-US" sz="2800" dirty="0"/>
              <a:t>-</a:t>
            </a:r>
            <a:r>
              <a:rPr lang="en-PK" sz="2800" dirty="0"/>
              <a:t>processing were performed</a:t>
            </a:r>
            <a:endParaRPr lang="en-US" sz="2800" dirty="0"/>
          </a:p>
          <a:p>
            <a:pPr marL="0" lvl="0" indent="0">
              <a:buSzPts val="1000"/>
              <a:buNone/>
              <a:tabLst>
                <a:tab pos="457200" algn="l"/>
              </a:tabLst>
            </a:pP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9150943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364EA-294C-4134-9BF1-04B69D055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sz="40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Pre</a:t>
            </a:r>
            <a:r>
              <a:rPr lang="en-US" sz="4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PK" sz="40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processing</a:t>
            </a:r>
            <a:endParaRPr lang="en-PK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5F583-3AA0-4705-9DA9-1F04657C0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b="1" dirty="0"/>
              <a:t>Removal</a:t>
            </a:r>
            <a:r>
              <a:rPr lang="en-PK" dirty="0"/>
              <a:t> of PDF artifacts and page headers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b="1" dirty="0"/>
              <a:t>Cleaning</a:t>
            </a:r>
            <a:r>
              <a:rPr lang="en-PK" dirty="0"/>
              <a:t> broken formatting and punctuation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b="1" dirty="0"/>
              <a:t>Fixing</a:t>
            </a:r>
            <a:r>
              <a:rPr lang="en-PK" dirty="0"/>
              <a:t> spacing and hyphenation issues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b="1" dirty="0"/>
              <a:t>Conversion</a:t>
            </a:r>
            <a:r>
              <a:rPr lang="en-PK" dirty="0"/>
              <a:t> of plain text into instruction-style format</a:t>
            </a:r>
          </a:p>
        </p:txBody>
      </p:sp>
    </p:spTree>
    <p:extLst>
      <p:ext uri="{BB962C8B-B14F-4D97-AF65-F5344CB8AC3E}">
        <p14:creationId xmlns:p14="http://schemas.microsoft.com/office/powerpoint/2010/main" val="13758658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6572-ACF4-452D-B2EF-ADF6EEE66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sz="40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Synthetic Data Generation</a:t>
            </a:r>
            <a:endParaRPr lang="en-PK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B4648-4C7D-4749-BDA0-BD7FF4E10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b="1" dirty="0"/>
              <a:t>Synthetic</a:t>
            </a:r>
            <a:r>
              <a:rPr lang="en-PK" sz="2800" dirty="0"/>
              <a:t> data generation was applied </a:t>
            </a:r>
            <a:r>
              <a:rPr lang="en-US" sz="2800" dirty="0"/>
              <a:t>using Gemini, </a:t>
            </a:r>
            <a:r>
              <a:rPr lang="en-PK" sz="2800" dirty="0"/>
              <a:t>to </a:t>
            </a:r>
            <a:r>
              <a:rPr lang="en-PK" sz="2800" b="1" dirty="0"/>
              <a:t>expand</a:t>
            </a:r>
            <a:r>
              <a:rPr lang="en-PK" sz="2800" dirty="0"/>
              <a:t> the dataset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b="1" dirty="0"/>
              <a:t>Seed-based</a:t>
            </a:r>
            <a:r>
              <a:rPr lang="en-PK" sz="2800" dirty="0"/>
              <a:t> generation was used to maintain format consistency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Generated data followed the same </a:t>
            </a:r>
            <a:r>
              <a:rPr lang="en-PK" sz="2800" b="1" dirty="0"/>
              <a:t>instruction</a:t>
            </a:r>
            <a:r>
              <a:rPr lang="en-PK" sz="2800" dirty="0"/>
              <a:t> format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Synthetic data was added to balance domain coverage</a:t>
            </a:r>
          </a:p>
        </p:txBody>
      </p:sp>
    </p:spTree>
    <p:extLst>
      <p:ext uri="{BB962C8B-B14F-4D97-AF65-F5344CB8AC3E}">
        <p14:creationId xmlns:p14="http://schemas.microsoft.com/office/powerpoint/2010/main" val="1819218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CF7B9-1A16-424C-ADE3-C493F66C4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sz="44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Dataset Balancing and Size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DBC2F-8859-43A2-8EE5-BC9FB9904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b="1" dirty="0"/>
              <a:t>Final dataset size</a:t>
            </a:r>
            <a:r>
              <a:rPr lang="en-PK" sz="2800" dirty="0"/>
              <a:t>: 5,000 samples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b="1" dirty="0"/>
              <a:t>Dataset distribution</a:t>
            </a:r>
            <a:r>
              <a:rPr lang="en-PK" sz="2800" dirty="0"/>
              <a:t>: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400" dirty="0"/>
              <a:t>Property law: 60%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400" dirty="0"/>
              <a:t>Supreme Court judgments: 25%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400" dirty="0"/>
              <a:t>Legal UQAD: 10%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400" dirty="0"/>
              <a:t>General UQAD: 5%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b="1" dirty="0"/>
              <a:t>Dataset split</a:t>
            </a:r>
            <a:r>
              <a:rPr lang="en-PK" sz="2800" dirty="0"/>
              <a:t>: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400" dirty="0"/>
              <a:t>Training: 4,500 samples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400" dirty="0"/>
              <a:t>Validation: 500 samples</a:t>
            </a:r>
          </a:p>
        </p:txBody>
      </p:sp>
    </p:spTree>
    <p:extLst>
      <p:ext uri="{BB962C8B-B14F-4D97-AF65-F5344CB8AC3E}">
        <p14:creationId xmlns:p14="http://schemas.microsoft.com/office/powerpoint/2010/main" val="36424657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F3E3FF-5724-4B87-9D89-C92C27257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115993"/>
              </p:ext>
            </p:extLst>
          </p:nvPr>
        </p:nvGraphicFramePr>
        <p:xfrm>
          <a:off x="393700" y="635990"/>
          <a:ext cx="8356599" cy="6096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28511">
                  <a:extLst>
                    <a:ext uri="{9D8B030D-6E8A-4147-A177-3AD203B41FA5}">
                      <a16:colId xmlns:a16="http://schemas.microsoft.com/office/drawing/2014/main" val="1197490907"/>
                    </a:ext>
                  </a:extLst>
                </a:gridCol>
                <a:gridCol w="928511">
                  <a:extLst>
                    <a:ext uri="{9D8B030D-6E8A-4147-A177-3AD203B41FA5}">
                      <a16:colId xmlns:a16="http://schemas.microsoft.com/office/drawing/2014/main" val="2299456467"/>
                    </a:ext>
                  </a:extLst>
                </a:gridCol>
                <a:gridCol w="928511">
                  <a:extLst>
                    <a:ext uri="{9D8B030D-6E8A-4147-A177-3AD203B41FA5}">
                      <a16:colId xmlns:a16="http://schemas.microsoft.com/office/drawing/2014/main" val="3516334014"/>
                    </a:ext>
                  </a:extLst>
                </a:gridCol>
                <a:gridCol w="928511">
                  <a:extLst>
                    <a:ext uri="{9D8B030D-6E8A-4147-A177-3AD203B41FA5}">
                      <a16:colId xmlns:a16="http://schemas.microsoft.com/office/drawing/2014/main" val="839115206"/>
                    </a:ext>
                  </a:extLst>
                </a:gridCol>
                <a:gridCol w="928511">
                  <a:extLst>
                    <a:ext uri="{9D8B030D-6E8A-4147-A177-3AD203B41FA5}">
                      <a16:colId xmlns:a16="http://schemas.microsoft.com/office/drawing/2014/main" val="1707886893"/>
                    </a:ext>
                  </a:extLst>
                </a:gridCol>
                <a:gridCol w="928511">
                  <a:extLst>
                    <a:ext uri="{9D8B030D-6E8A-4147-A177-3AD203B41FA5}">
                      <a16:colId xmlns:a16="http://schemas.microsoft.com/office/drawing/2014/main" val="4040496212"/>
                    </a:ext>
                  </a:extLst>
                </a:gridCol>
                <a:gridCol w="928511">
                  <a:extLst>
                    <a:ext uri="{9D8B030D-6E8A-4147-A177-3AD203B41FA5}">
                      <a16:colId xmlns:a16="http://schemas.microsoft.com/office/drawing/2014/main" val="541774817"/>
                    </a:ext>
                  </a:extLst>
                </a:gridCol>
                <a:gridCol w="928511">
                  <a:extLst>
                    <a:ext uri="{9D8B030D-6E8A-4147-A177-3AD203B41FA5}">
                      <a16:colId xmlns:a16="http://schemas.microsoft.com/office/drawing/2014/main" val="1864231021"/>
                    </a:ext>
                  </a:extLst>
                </a:gridCol>
                <a:gridCol w="928511">
                  <a:extLst>
                    <a:ext uri="{9D8B030D-6E8A-4147-A177-3AD203B41FA5}">
                      <a16:colId xmlns:a16="http://schemas.microsoft.com/office/drawing/2014/main" val="3631475854"/>
                    </a:ext>
                  </a:extLst>
                </a:gridCol>
              </a:tblGrid>
              <a:tr h="6595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No.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Dataset Name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 dirty="0">
                          <a:effectLst/>
                        </a:rPr>
                        <a:t>Source</a:t>
                      </a:r>
                      <a:endParaRPr lang="en-PK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Domain Focus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Original Format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Original Samples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Synthetic Data Used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Purpose in Training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Final Contribution (%)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extLst>
                  <a:ext uri="{0D108BD9-81ED-4DB2-BD59-A6C34878D82A}">
                    <a16:rowId xmlns:a16="http://schemas.microsoft.com/office/drawing/2014/main" val="989873498"/>
                  </a:ext>
                </a:extLst>
              </a:tr>
              <a:tr h="1575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Property Law Dataset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Kaggle, Pakistani Law Websites (PIDE, Mughal Barristers, Wirasat, NDMA)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Pakistani Property Law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PDF, Plain Text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411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Yes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 dirty="0">
                          <a:effectLst/>
                        </a:rPr>
                        <a:t>Core domain knowledge for property laws, rights, procedures, and disputes</a:t>
                      </a:r>
                      <a:endParaRPr lang="en-PK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60%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extLst>
                  <a:ext uri="{0D108BD9-81ED-4DB2-BD59-A6C34878D82A}">
                    <a16:rowId xmlns:a16="http://schemas.microsoft.com/office/drawing/2014/main" val="3818701389"/>
                  </a:ext>
                </a:extLst>
              </a:tr>
              <a:tr h="11177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Legal UQAD Dataset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GitHub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 dirty="0">
                          <a:effectLst/>
                        </a:rPr>
                        <a:t>Legal Question Answering</a:t>
                      </a:r>
                      <a:endParaRPr lang="en-PK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Plain Text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 dirty="0">
                          <a:effectLst/>
                        </a:rPr>
                        <a:t>990</a:t>
                      </a:r>
                      <a:endParaRPr lang="en-PK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Yes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Learning legal question/answer structure and legal reasoning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10%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extLst>
                  <a:ext uri="{0D108BD9-81ED-4DB2-BD59-A6C34878D82A}">
                    <a16:rowId xmlns:a16="http://schemas.microsoft.com/office/drawing/2014/main" val="2882625203"/>
                  </a:ext>
                </a:extLst>
              </a:tr>
              <a:tr h="11177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Supreme Court Judgments Dataset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Kaggle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Judicial Decisions (Pakistan)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PDF, Plain Text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75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Yes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Exposure to real court language and judgment reasoning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25%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extLst>
                  <a:ext uri="{0D108BD9-81ED-4DB2-BD59-A6C34878D82A}">
                    <a16:rowId xmlns:a16="http://schemas.microsoft.com/office/drawing/2014/main" val="1658145924"/>
                  </a:ext>
                </a:extLst>
              </a:tr>
              <a:tr h="13467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4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General UQAD Dataset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Hugging Face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General Question Answering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Plain Text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27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Yes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>
                          <a:effectLst/>
                        </a:rPr>
                        <a:t>Maintaining general reasoning ability and response fluency</a:t>
                      </a:r>
                      <a:endParaRPr lang="en-PK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50" dirty="0">
                          <a:effectLst/>
                        </a:rPr>
                        <a:t>5%</a:t>
                      </a:r>
                      <a:endParaRPr lang="en-PK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928" marR="0" marT="0" marB="0" anchor="ctr"/>
                </a:tc>
                <a:extLst>
                  <a:ext uri="{0D108BD9-81ED-4DB2-BD59-A6C34878D82A}">
                    <a16:rowId xmlns:a16="http://schemas.microsoft.com/office/drawing/2014/main" val="3984439497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E6B3144A-6ACB-4F64-BAAE-AD9B5CB14E92}"/>
              </a:ext>
            </a:extLst>
          </p:cNvPr>
          <p:cNvGrpSpPr/>
          <p:nvPr/>
        </p:nvGrpSpPr>
        <p:grpSpPr>
          <a:xfrm>
            <a:off x="2185594" y="-130586"/>
            <a:ext cx="4772812" cy="890372"/>
            <a:chOff x="0" y="-204199"/>
            <a:chExt cx="6363749" cy="118716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788C5F2-8AB9-4E59-938A-11E09FAFD2FA}"/>
                </a:ext>
              </a:extLst>
            </p:cNvPr>
            <p:cNvGrpSpPr/>
            <p:nvPr/>
          </p:nvGrpSpPr>
          <p:grpSpPr>
            <a:xfrm>
              <a:off x="0" y="-204199"/>
              <a:ext cx="6363749" cy="1187163"/>
              <a:chOff x="0" y="-57150"/>
              <a:chExt cx="1781045" cy="332256"/>
            </a:xfrm>
          </p:grpSpPr>
          <p:sp>
            <p:nvSpPr>
              <p:cNvPr id="8" name="Freeform 6">
                <a:extLst>
                  <a:ext uri="{FF2B5EF4-FFF2-40B4-BE49-F238E27FC236}">
                    <a16:creationId xmlns:a16="http://schemas.microsoft.com/office/drawing/2014/main" id="{1805AFFC-C439-4527-A344-7F1258DE9BDA}"/>
                  </a:ext>
                </a:extLst>
              </p:cNvPr>
              <p:cNvSpPr/>
              <p:nvPr/>
            </p:nvSpPr>
            <p:spPr>
              <a:xfrm>
                <a:off x="0" y="0"/>
                <a:ext cx="1781045" cy="275106"/>
              </a:xfrm>
              <a:custGeom>
                <a:avLst/>
                <a:gdLst/>
                <a:ahLst/>
                <a:cxnLst/>
                <a:rect l="l" t="t" r="r" b="b"/>
                <a:pathLst>
                  <a:path w="1781045" h="275106">
                    <a:moveTo>
                      <a:pt x="0" y="0"/>
                    </a:moveTo>
                    <a:lnTo>
                      <a:pt x="1781045" y="0"/>
                    </a:lnTo>
                    <a:lnTo>
                      <a:pt x="1781045" y="275106"/>
                    </a:lnTo>
                    <a:lnTo>
                      <a:pt x="0" y="275106"/>
                    </a:lnTo>
                    <a:close/>
                  </a:path>
                </a:pathLst>
              </a:custGeom>
              <a:solidFill>
                <a:srgbClr val="082B3D"/>
              </a:solidFill>
            </p:spPr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81DE7E-559E-45D7-B6F5-17F831DE7E3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781045" cy="3322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EA7D1B6F-A3C0-446C-A2A7-BDEAB9E7C0A6}"/>
                </a:ext>
              </a:extLst>
            </p:cNvPr>
            <p:cNvSpPr txBox="1"/>
            <p:nvPr/>
          </p:nvSpPr>
          <p:spPr>
            <a:xfrm>
              <a:off x="222503" y="120029"/>
              <a:ext cx="5918742" cy="664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200" b="1" dirty="0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Data Overview</a:t>
              </a:r>
              <a:endParaRPr lang="en-US" sz="2800" b="1" dirty="0">
                <a:solidFill>
                  <a:schemeClr val="bg1"/>
                </a:solidFill>
                <a:latin typeface="Lato Bold"/>
                <a:ea typeface="Lato Bold"/>
                <a:cs typeface="Lato Bold"/>
                <a:sym typeface="Lato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30335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C65D-F096-4E2E-BEDE-FE5647DA8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sz="40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Fine-Tuning Process</a:t>
            </a:r>
            <a:endParaRPr lang="en-PK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7BDC1-59D2-4644-A25B-018AECDBF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Model fine-tuned using </a:t>
            </a:r>
            <a:r>
              <a:rPr lang="en-PK" sz="2800" b="1" dirty="0" err="1"/>
              <a:t>QLoRA</a:t>
            </a:r>
            <a:r>
              <a:rPr lang="en-PK" sz="2800" dirty="0"/>
              <a:t> technique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Training performed for </a:t>
            </a:r>
            <a:r>
              <a:rPr lang="en-PK" sz="2800" b="1" dirty="0"/>
              <a:t>2 epochs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b="1" dirty="0"/>
              <a:t>4-bit quantization </a:t>
            </a:r>
            <a:r>
              <a:rPr lang="en-PK" sz="2800" dirty="0"/>
              <a:t>used to reduce memory usage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b="1" dirty="0" err="1"/>
              <a:t>LoRA</a:t>
            </a:r>
            <a:r>
              <a:rPr lang="en-PK" sz="2800" dirty="0"/>
              <a:t> adapters trained instead of full model weights</a:t>
            </a: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Training progress </a:t>
            </a:r>
            <a:r>
              <a:rPr lang="en-PK" sz="2800" b="1" dirty="0"/>
              <a:t>monitored</a:t>
            </a:r>
            <a:r>
              <a:rPr lang="en-PK" sz="2800" dirty="0"/>
              <a:t> using </a:t>
            </a:r>
            <a:r>
              <a:rPr lang="en-PK" sz="2800" b="1" dirty="0"/>
              <a:t>validation loss</a:t>
            </a:r>
          </a:p>
        </p:txBody>
      </p:sp>
    </p:spTree>
    <p:extLst>
      <p:ext uri="{BB962C8B-B14F-4D97-AF65-F5344CB8AC3E}">
        <p14:creationId xmlns:p14="http://schemas.microsoft.com/office/powerpoint/2010/main" val="26420499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D415-54D5-4C39-B20B-0C275D69E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sz="40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Conversation Management &amp; Response Generation</a:t>
            </a:r>
            <a:endParaRPr lang="en-PK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AF03A-B29D-492E-A2E3-CD2B500BB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Chatbot uses a </a:t>
            </a:r>
            <a:r>
              <a:rPr lang="en-PK" sz="2800" b="1" dirty="0"/>
              <a:t>generative AI approach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User queries are processed </a:t>
            </a:r>
            <a:r>
              <a:rPr lang="en-PK" sz="2800" b="1" dirty="0"/>
              <a:t>independently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The model performs </a:t>
            </a:r>
            <a:r>
              <a:rPr lang="en-PK" sz="2800" b="1" dirty="0"/>
              <a:t>semantic</a:t>
            </a:r>
            <a:r>
              <a:rPr lang="en-PK" sz="2800" dirty="0"/>
              <a:t> understanding of queries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Responses are generated </a:t>
            </a:r>
            <a:r>
              <a:rPr lang="en-PK" sz="2800" b="1" dirty="0"/>
              <a:t>dynamically</a:t>
            </a:r>
            <a:r>
              <a:rPr lang="en-PK" sz="2800" dirty="0"/>
              <a:t> (not template-based)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800" dirty="0"/>
              <a:t>The system </a:t>
            </a:r>
            <a:r>
              <a:rPr lang="en-PK" sz="2800" b="1" dirty="0"/>
              <a:t>returns</a:t>
            </a:r>
            <a:r>
              <a:rPr lang="en-PK" sz="2800" dirty="0"/>
              <a:t> clean, user-facing responses only</a:t>
            </a:r>
          </a:p>
        </p:txBody>
      </p:sp>
    </p:spTree>
    <p:extLst>
      <p:ext uri="{BB962C8B-B14F-4D97-AF65-F5344CB8AC3E}">
        <p14:creationId xmlns:p14="http://schemas.microsoft.com/office/powerpoint/2010/main" val="31142231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Testing</a:t>
            </a:r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PK" sz="2400" b="1" dirty="0"/>
              <a:t>Testing Approach</a:t>
            </a:r>
            <a:endParaRPr lang="en-US" sz="2400" b="1" dirty="0"/>
          </a:p>
          <a:p>
            <a:pPr marL="114300" indent="0">
              <a:buNone/>
            </a:pPr>
            <a:r>
              <a:rPr lang="en-PK" sz="2400" dirty="0"/>
              <a:t>Formal end-to-end system testing has </a:t>
            </a:r>
            <a:r>
              <a:rPr lang="en-PK" sz="2400" b="1" dirty="0"/>
              <a:t>not</a:t>
            </a:r>
            <a:r>
              <a:rPr lang="en-PK" sz="2400" dirty="0"/>
              <a:t> been completed yet</a:t>
            </a:r>
            <a:endParaRPr lang="en-US" sz="2400" dirty="0"/>
          </a:p>
          <a:p>
            <a:pPr marL="114300" indent="0">
              <a:buNone/>
            </a:pPr>
            <a:r>
              <a:rPr lang="en-PK" sz="2400" b="1" dirty="0"/>
              <a:t>Current testing is based on:</a:t>
            </a:r>
            <a:endParaRPr lang="en-US" sz="2400" b="1" dirty="0"/>
          </a:p>
          <a:p>
            <a:pPr lvl="1"/>
            <a:r>
              <a:rPr lang="en-PK" sz="1600" dirty="0"/>
              <a:t>Validation samples used during model fine-tuning</a:t>
            </a:r>
            <a:endParaRPr lang="en-US" sz="1600" dirty="0"/>
          </a:p>
          <a:p>
            <a:pPr lvl="1"/>
            <a:r>
              <a:rPr lang="en-PK" sz="1600" dirty="0"/>
              <a:t>Training and evaluation logs generated by the training process</a:t>
            </a:r>
            <a:endParaRPr lang="en-US" sz="1600" dirty="0"/>
          </a:p>
          <a:p>
            <a:pPr marL="114300" indent="0">
              <a:buNone/>
            </a:pPr>
            <a:r>
              <a:rPr lang="en-PK" sz="2400" b="1" dirty="0"/>
              <a:t>Testing focused on:</a:t>
            </a:r>
            <a:endParaRPr lang="en-US" sz="2400" b="1" dirty="0"/>
          </a:p>
          <a:p>
            <a:pPr marL="114300" indent="0">
              <a:buNone/>
            </a:pPr>
            <a:r>
              <a:rPr lang="en-PK" sz="2000" dirty="0"/>
              <a:t>Response quality</a:t>
            </a:r>
            <a:endParaRPr lang="en-US" sz="2000" dirty="0"/>
          </a:p>
          <a:p>
            <a:pPr marL="114300" indent="0">
              <a:buNone/>
            </a:pPr>
            <a:r>
              <a:rPr lang="en-PK" sz="2000" dirty="0"/>
              <a:t>Legal relevance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43332-497A-4B5B-9446-B09820E68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sz="4000" dirty="0"/>
              <a:t>Training stability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BA7F5-31FF-4873-8D24-5F21402B1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68506"/>
            <a:ext cx="8229600" cy="4525963"/>
          </a:xfrm>
        </p:spPr>
        <p:txBody>
          <a:bodyPr/>
          <a:lstStyle/>
          <a:p>
            <a:pPr marL="114300" indent="0">
              <a:buNone/>
            </a:pPr>
            <a:r>
              <a:rPr lang="en-PK" sz="2000" b="1" dirty="0"/>
              <a:t>Validation-Based Evaluation</a:t>
            </a:r>
          </a:p>
          <a:p>
            <a:pPr marL="742950" lvl="1" indent="-28575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PK" sz="1600" dirty="0"/>
              <a:t>A validation set of </a:t>
            </a:r>
            <a:r>
              <a:rPr lang="en-PK" sz="1600" b="1" dirty="0"/>
              <a:t>500</a:t>
            </a:r>
            <a:r>
              <a:rPr lang="en-PK" sz="1600" dirty="0"/>
              <a:t> </a:t>
            </a:r>
            <a:r>
              <a:rPr lang="en-PK" sz="1600" b="1" dirty="0"/>
              <a:t>samples</a:t>
            </a:r>
            <a:r>
              <a:rPr lang="en-PK" sz="1600" dirty="0"/>
              <a:t> was used during fine-tuning</a:t>
            </a:r>
          </a:p>
          <a:p>
            <a:pPr marL="742950" lvl="1" indent="-28575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PK" sz="1600" dirty="0"/>
              <a:t>These samples were </a:t>
            </a:r>
            <a:r>
              <a:rPr lang="en-PK" sz="1600" b="1" dirty="0"/>
              <a:t>not</a:t>
            </a:r>
            <a:r>
              <a:rPr lang="en-PK" sz="1600" dirty="0"/>
              <a:t> used in training</a:t>
            </a:r>
          </a:p>
          <a:p>
            <a:pPr marL="742950" lvl="1" indent="-28575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PK" sz="1600" dirty="0"/>
              <a:t>The model generated responses for validation prompts</a:t>
            </a:r>
          </a:p>
          <a:p>
            <a:pPr marL="742950" lvl="1" indent="-28575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PK" sz="1600" dirty="0"/>
              <a:t>Generated outputs were compared with reference responses</a:t>
            </a:r>
            <a:endParaRPr lang="en-US" sz="1600" dirty="0"/>
          </a:p>
          <a:p>
            <a:pPr marL="742950" lvl="1" indent="-285750">
              <a:buSzPts val="1000"/>
              <a:tabLst>
                <a:tab pos="457200" algn="l"/>
              </a:tabLst>
            </a:pPr>
            <a:endParaRPr lang="en-US" sz="2000" dirty="0"/>
          </a:p>
          <a:p>
            <a:pPr marL="114300" indent="0">
              <a:buNone/>
            </a:pPr>
            <a:r>
              <a:rPr lang="en-PK" sz="2000" b="1" dirty="0"/>
              <a:t>Training Log Summary</a:t>
            </a:r>
          </a:p>
          <a:p>
            <a:pPr marL="742950" lvl="1" indent="-28575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PK" sz="1600" dirty="0"/>
              <a:t>Initial training loss ≈ 2.19</a:t>
            </a:r>
          </a:p>
          <a:p>
            <a:pPr marL="742950" lvl="1" indent="-28575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PK" sz="1600" dirty="0"/>
              <a:t>Final training loss ≈ 1.51</a:t>
            </a:r>
          </a:p>
          <a:p>
            <a:pPr marL="742950" lvl="1" indent="-28575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PK" sz="1600" dirty="0"/>
              <a:t>Validation loss reduced to ≈ 1.53</a:t>
            </a:r>
          </a:p>
          <a:p>
            <a:pPr marL="742950" lvl="1" indent="-28575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PK" sz="1600" dirty="0"/>
              <a:t>No training instability or divergence observed</a:t>
            </a:r>
            <a:endParaRPr lang="en-US" sz="1600" dirty="0"/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481026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103CC-AFBB-4057-BAB9-B1626437A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Training &amp; Evaluation Results</a:t>
            </a:r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8C0F56-7608-4AF0-8988-41B23B447148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70" b="2589"/>
          <a:stretch/>
        </p:blipFill>
        <p:spPr bwMode="auto">
          <a:xfrm>
            <a:off x="122237" y="1176020"/>
            <a:ext cx="8564563" cy="461518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163543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ENDEAVOUR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4400" b="1" dirty="0"/>
              <a:t>Team Roles</a:t>
            </a:r>
          </a:p>
        </p:txBody>
      </p:sp>
      <p:sp>
        <p:nvSpPr>
          <p:cNvPr id="176" name="Google Shape;176;p15"/>
          <p:cNvSpPr txBox="1">
            <a:spLocks noGrp="1"/>
          </p:cNvSpPr>
          <p:nvPr>
            <p:ph type="body" idx="1"/>
          </p:nvPr>
        </p:nvSpPr>
        <p:spPr>
          <a:xfrm>
            <a:off x="457200" y="116601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AI &amp; Machine Learning Lead</a:t>
            </a:r>
            <a:endParaRPr lang="en-GB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Dataset collection, cleaning, and </a:t>
            </a:r>
            <a:r>
              <a:rPr lang="en-GB" sz="1800" dirty="0" err="1"/>
              <a:t>preprocessing</a:t>
            </a:r>
            <a:endParaRPr lang="en-GB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Synthetic data generation and dataset balancing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Fine-tuning the Qwen2.5-1.5B model using </a:t>
            </a:r>
            <a:r>
              <a:rPr lang="en-GB" sz="1800" dirty="0" err="1"/>
              <a:t>QLoRA</a:t>
            </a:r>
            <a:endParaRPr lang="en-GB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Evaluation of training and validation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Backend Developer</a:t>
            </a:r>
            <a:endParaRPr lang="en-GB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Development of Node.js backend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Integration of AI service APIs with the mobile application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Handling user authentication and request routing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Mobile Application Developer</a:t>
            </a:r>
            <a:endParaRPr lang="en-GB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UI development using Flutter (Dart)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Implementation of chatbot interface, OCR, and voice input screens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dirty="0"/>
              <a:t>Integration with backend APIs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NEXT STEPS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38150" y="1403351"/>
            <a:ext cx="8267700" cy="3912720"/>
          </a:xfrm>
          <a:prstGeom prst="rect">
            <a:avLst/>
          </a:prstGeom>
        </p:spPr>
        <p:txBody>
          <a:bodyPr wrap="square" lIns="0" tIns="0" rIns="0" bIns="0" numCol="2" spcCol="720000" rtlCol="0" anchor="t">
            <a:noAutofit/>
          </a:bodyPr>
          <a:lstStyle/>
          <a:p>
            <a:pPr marL="342900" indent="-342900">
              <a:lnSpc>
                <a:spcPts val="3818"/>
              </a:lnSpc>
              <a:buFont typeface="Wingdings" panose="05000000000000000000" pitchFamily="2" charset="2"/>
              <a:buChar char="q"/>
            </a:pPr>
            <a:r>
              <a:rPr lang="en-PK" sz="2000" strike="sngStrike" dirty="0">
                <a:effectLst/>
                <a:latin typeface="+mn-lt"/>
                <a:ea typeface="Times New Roman" panose="02020603050405020304" pitchFamily="18" charset="0"/>
              </a:rPr>
              <a:t>Problem identification and domain selection (Property Law)</a:t>
            </a:r>
            <a:endParaRPr lang="en-US" sz="2000" strike="sngStrike" dirty="0">
              <a:latin typeface="+mn-lt"/>
            </a:endParaRPr>
          </a:p>
          <a:p>
            <a:pPr marL="342900" indent="-342900">
              <a:lnSpc>
                <a:spcPts val="3818"/>
              </a:lnSpc>
              <a:buFont typeface="Wingdings" panose="05000000000000000000" pitchFamily="2" charset="2"/>
              <a:buChar char="q"/>
            </a:pPr>
            <a:r>
              <a:rPr lang="en-US" sz="2000" strike="sngStrike" dirty="0"/>
              <a:t>Requirement gathering &amp; dataset collection</a:t>
            </a:r>
          </a:p>
          <a:p>
            <a:pPr marL="342900" indent="-342900">
              <a:lnSpc>
                <a:spcPts val="3818"/>
              </a:lnSpc>
              <a:buFont typeface="Wingdings" panose="05000000000000000000" pitchFamily="2" charset="2"/>
              <a:buChar char="q"/>
            </a:pPr>
            <a:r>
              <a:rPr lang="en-US" sz="2000" strike="sngStrike" dirty="0"/>
              <a:t>Literature Review and research GAP</a:t>
            </a:r>
          </a:p>
          <a:p>
            <a:pPr marL="342900" indent="-342900">
              <a:lnSpc>
                <a:spcPts val="3818"/>
              </a:lnSpc>
              <a:buFont typeface="Wingdings" panose="05000000000000000000" pitchFamily="2" charset="2"/>
              <a:buChar char="q"/>
            </a:pPr>
            <a:r>
              <a:rPr lang="en-PK" sz="2000" b="0" strike="sngStrike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Dataset Preparation</a:t>
            </a:r>
            <a:endParaRPr lang="en-US" sz="2000" strike="sngStrike" dirty="0">
              <a:latin typeface="+mn-lt"/>
            </a:endParaRPr>
          </a:p>
          <a:p>
            <a:pPr marL="342900" indent="-342900">
              <a:lnSpc>
                <a:spcPts val="3818"/>
              </a:lnSpc>
              <a:buFont typeface="Wingdings" panose="05000000000000000000" pitchFamily="2" charset="2"/>
              <a:buChar char="q"/>
            </a:pPr>
            <a:r>
              <a:rPr lang="en-US" sz="2000" strike="sngStrike" dirty="0"/>
              <a:t>Chatbot development (Urdu/English)</a:t>
            </a:r>
          </a:p>
          <a:p>
            <a:pPr marL="342900" indent="-342900">
              <a:lnSpc>
                <a:spcPts val="3818"/>
              </a:lnSpc>
              <a:buFont typeface="Wingdings" panose="05000000000000000000" pitchFamily="2" charset="2"/>
              <a:buChar char="q"/>
            </a:pPr>
            <a:r>
              <a:rPr lang="en-PK" sz="2000" strike="sngStrike" dirty="0">
                <a:effectLst/>
                <a:latin typeface="+mn-lt"/>
                <a:ea typeface="Times New Roman" panose="02020603050405020304" pitchFamily="18" charset="0"/>
              </a:rPr>
              <a:t>Basic Flutter UI screens</a:t>
            </a:r>
            <a:endParaRPr lang="en-US" sz="2000" strike="sngStrike" dirty="0">
              <a:latin typeface="+mn-lt"/>
            </a:endParaRPr>
          </a:p>
          <a:p>
            <a:pPr marL="342900" indent="-342900">
              <a:lnSpc>
                <a:spcPts val="3818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Simplification engine for laws</a:t>
            </a:r>
          </a:p>
          <a:p>
            <a:pPr marL="342900" indent="-342900">
              <a:lnSpc>
                <a:spcPts val="3818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Document generation module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2549938" y="323851"/>
            <a:ext cx="4044124" cy="724820"/>
            <a:chOff x="0" y="-174010"/>
            <a:chExt cx="5751643" cy="1030857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-174010"/>
              <a:ext cx="5751643" cy="1030857"/>
              <a:chOff x="0" y="-57150"/>
              <a:chExt cx="1889007" cy="33856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889007" cy="281413"/>
              </a:xfrm>
              <a:custGeom>
                <a:avLst/>
                <a:gdLst/>
                <a:ahLst/>
                <a:cxnLst/>
                <a:rect l="l" t="t" r="r" b="b"/>
                <a:pathLst>
                  <a:path w="1889007" h="281413">
                    <a:moveTo>
                      <a:pt x="0" y="0"/>
                    </a:moveTo>
                    <a:lnTo>
                      <a:pt x="1889007" y="0"/>
                    </a:lnTo>
                    <a:lnTo>
                      <a:pt x="1889007" y="281413"/>
                    </a:lnTo>
                    <a:lnTo>
                      <a:pt x="0" y="281413"/>
                    </a:lnTo>
                    <a:close/>
                  </a:path>
                </a:pathLst>
              </a:custGeom>
              <a:solidFill>
                <a:srgbClr val="082B3D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57150"/>
                <a:ext cx="1889007" cy="338563"/>
              </a:xfrm>
              <a:prstGeom prst="rect">
                <a:avLst/>
              </a:prstGeom>
            </p:spPr>
            <p:txBody>
              <a:bodyPr lIns="47625" tIns="47625" rIns="47625" bIns="47625" rtlCol="0" anchor="ctr"/>
              <a:lstStyle/>
              <a:p>
                <a:pPr algn="ctr">
                  <a:lnSpc>
                    <a:spcPts val="3022"/>
                  </a:lnSpc>
                </a:pPr>
                <a:endParaRPr sz="1313"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0" y="92408"/>
              <a:ext cx="5751643" cy="650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40"/>
                </a:lnSpc>
                <a:spcBef>
                  <a:spcPct val="0"/>
                </a:spcBef>
              </a:pPr>
              <a:r>
                <a:rPr lang="en-US" sz="2814" b="1" dirty="0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WBS</a:t>
              </a:r>
            </a:p>
          </p:txBody>
        </p:sp>
      </p:grpSp>
      <p:sp>
        <p:nvSpPr>
          <p:cNvPr id="36" name="Freeform 36"/>
          <p:cNvSpPr/>
          <p:nvPr/>
        </p:nvSpPr>
        <p:spPr>
          <a:xfrm>
            <a:off x="5832490" y="4027664"/>
            <a:ext cx="1523144" cy="1723341"/>
          </a:xfrm>
          <a:custGeom>
            <a:avLst/>
            <a:gdLst/>
            <a:ahLst/>
            <a:cxnLst/>
            <a:rect l="l" t="t" r="r" b="b"/>
            <a:pathLst>
              <a:path w="2381506" h="2443709">
                <a:moveTo>
                  <a:pt x="0" y="0"/>
                </a:moveTo>
                <a:lnTo>
                  <a:pt x="2381506" y="0"/>
                </a:lnTo>
                <a:lnTo>
                  <a:pt x="2381506" y="2443709"/>
                </a:lnTo>
                <a:lnTo>
                  <a:pt x="0" y="24437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208AA6-041C-4794-8B8E-96AB76D53796}"/>
              </a:ext>
            </a:extLst>
          </p:cNvPr>
          <p:cNvSpPr txBox="1"/>
          <p:nvPr/>
        </p:nvSpPr>
        <p:spPr>
          <a:xfrm>
            <a:off x="958850" y="1035200"/>
            <a:ext cx="7404100" cy="4209900"/>
          </a:xfrm>
          <a:prstGeom prst="rect">
            <a:avLst/>
          </a:prstGeom>
          <a:noFill/>
        </p:spPr>
        <p:txBody>
          <a:bodyPr wrap="square" numCol="2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OCR integration &amp; summarization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Lawyer recommendation system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Lawyer connect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PK" sz="2000" strike="sngStrike" dirty="0"/>
              <a:t>Python-based AI service (</a:t>
            </a:r>
            <a:r>
              <a:rPr lang="en-PK" sz="2000" strike="sngStrike" dirty="0" err="1"/>
              <a:t>FastAPI</a:t>
            </a:r>
            <a:r>
              <a:rPr lang="en-PK" sz="2000" strike="sngStrike" dirty="0"/>
              <a:t>)</a:t>
            </a:r>
            <a:endParaRPr lang="en-US" sz="2000" strike="sngStrike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PK" sz="2000" strike="sngStrike" dirty="0"/>
              <a:t>Node.js backend integration</a:t>
            </a:r>
            <a:r>
              <a:rPr lang="en-US" sz="2000" strike="sngStrike" dirty="0"/>
              <a:t> (partially)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PK" sz="2000" strike="sngStrike" dirty="0"/>
              <a:t>FYP-1 report and diagrams</a:t>
            </a:r>
            <a:endParaRPr lang="en-US" sz="2000" strike="sngStrike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PK" sz="2000" strike="sngStrike" dirty="0"/>
              <a:t>Implementation &amp; results documentation</a:t>
            </a:r>
            <a:endParaRPr lang="en-US" sz="2000" strike="sngStrike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Voice input/output support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Testing &amp; evaluation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Deployment &amp; user feedback</a:t>
            </a:r>
          </a:p>
        </p:txBody>
      </p:sp>
      <p:sp>
        <p:nvSpPr>
          <p:cNvPr id="7" name="Freeform 36">
            <a:extLst>
              <a:ext uri="{FF2B5EF4-FFF2-40B4-BE49-F238E27FC236}">
                <a16:creationId xmlns:a16="http://schemas.microsoft.com/office/drawing/2014/main" id="{341EE38A-D445-4548-BB67-C0A1D8F7E6DA}"/>
              </a:ext>
            </a:extLst>
          </p:cNvPr>
          <p:cNvSpPr/>
          <p:nvPr/>
        </p:nvSpPr>
        <p:spPr>
          <a:xfrm>
            <a:off x="6662006" y="3909109"/>
            <a:ext cx="1523144" cy="1723341"/>
          </a:xfrm>
          <a:custGeom>
            <a:avLst/>
            <a:gdLst/>
            <a:ahLst/>
            <a:cxnLst/>
            <a:rect l="l" t="t" r="r" b="b"/>
            <a:pathLst>
              <a:path w="2381506" h="2443709">
                <a:moveTo>
                  <a:pt x="0" y="0"/>
                </a:moveTo>
                <a:lnTo>
                  <a:pt x="2381506" y="0"/>
                </a:lnTo>
                <a:lnTo>
                  <a:pt x="2381506" y="2443709"/>
                </a:lnTo>
                <a:lnTo>
                  <a:pt x="0" y="2443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787991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37"/>
          <p:cNvSpPr/>
          <p:nvPr/>
        </p:nvSpPr>
        <p:spPr>
          <a:xfrm>
            <a:off x="7661268" y="2991332"/>
            <a:ext cx="1518979" cy="803123"/>
          </a:xfrm>
          <a:custGeom>
            <a:avLst/>
            <a:gdLst/>
            <a:ahLst/>
            <a:cxnLst/>
            <a:rect l="l" t="t" r="r" b="b"/>
            <a:pathLst>
              <a:path w="3143377" h="1661986">
                <a:moveTo>
                  <a:pt x="0" y="0"/>
                </a:moveTo>
                <a:lnTo>
                  <a:pt x="3143377" y="0"/>
                </a:lnTo>
                <a:lnTo>
                  <a:pt x="3143377" y="1661986"/>
                </a:lnTo>
                <a:lnTo>
                  <a:pt x="0" y="166198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grpSp>
        <p:nvGrpSpPr>
          <p:cNvPr id="85" name="Group 85"/>
          <p:cNvGrpSpPr/>
          <p:nvPr/>
        </p:nvGrpSpPr>
        <p:grpSpPr>
          <a:xfrm>
            <a:off x="2200989" y="513813"/>
            <a:ext cx="4742024" cy="602470"/>
            <a:chOff x="0" y="0"/>
            <a:chExt cx="6744212" cy="856847"/>
          </a:xfrm>
        </p:grpSpPr>
        <p:grpSp>
          <p:nvGrpSpPr>
            <p:cNvPr id="86" name="Group 86"/>
            <p:cNvGrpSpPr/>
            <p:nvPr/>
          </p:nvGrpSpPr>
          <p:grpSpPr>
            <a:xfrm>
              <a:off x="0" y="0"/>
              <a:ext cx="6744212" cy="856847"/>
              <a:chOff x="0" y="0"/>
              <a:chExt cx="2214996" cy="281413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2214996" cy="281413"/>
              </a:xfrm>
              <a:custGeom>
                <a:avLst/>
                <a:gdLst/>
                <a:ahLst/>
                <a:cxnLst/>
                <a:rect l="l" t="t" r="r" b="b"/>
                <a:pathLst>
                  <a:path w="2214996" h="281413">
                    <a:moveTo>
                      <a:pt x="0" y="0"/>
                    </a:moveTo>
                    <a:lnTo>
                      <a:pt x="2214996" y="0"/>
                    </a:lnTo>
                    <a:lnTo>
                      <a:pt x="2214996" y="281413"/>
                    </a:lnTo>
                    <a:lnTo>
                      <a:pt x="0" y="281413"/>
                    </a:lnTo>
                    <a:close/>
                  </a:path>
                </a:pathLst>
              </a:custGeom>
              <a:solidFill>
                <a:srgbClr val="082B3D"/>
              </a:solidFill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0" y="-57150"/>
                <a:ext cx="2214996" cy="338563"/>
              </a:xfrm>
              <a:prstGeom prst="rect">
                <a:avLst/>
              </a:prstGeom>
            </p:spPr>
            <p:txBody>
              <a:bodyPr lIns="47625" tIns="47625" rIns="47625" bIns="47625" rtlCol="0" anchor="ctr"/>
              <a:lstStyle/>
              <a:p>
                <a:pPr algn="ctr">
                  <a:lnSpc>
                    <a:spcPts val="3022"/>
                  </a:lnSpc>
                </a:pPr>
                <a:endParaRPr sz="1313"/>
              </a:p>
            </p:txBody>
          </p:sp>
        </p:grpSp>
        <p:sp>
          <p:nvSpPr>
            <p:cNvPr id="89" name="TextBox 89"/>
            <p:cNvSpPr txBox="1"/>
            <p:nvPr/>
          </p:nvSpPr>
          <p:spPr>
            <a:xfrm>
              <a:off x="0" y="92408"/>
              <a:ext cx="6744212" cy="6502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40"/>
                </a:lnSpc>
                <a:spcBef>
                  <a:spcPct val="0"/>
                </a:spcBef>
              </a:pPr>
              <a:r>
                <a:rPr lang="en-US" sz="2814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WORK DIVISION TIME LINE</a:t>
              </a:r>
            </a:p>
          </p:txBody>
        </p:sp>
      </p:grpSp>
      <p:graphicFrame>
        <p:nvGraphicFramePr>
          <p:cNvPr id="115" name="Diagram 114">
            <a:extLst>
              <a:ext uri="{FF2B5EF4-FFF2-40B4-BE49-F238E27FC236}">
                <a16:creationId xmlns:a16="http://schemas.microsoft.com/office/drawing/2014/main" id="{91BE7259-0D3C-469A-9918-3458FCB7A4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3449481"/>
              </p:ext>
            </p:extLst>
          </p:nvPr>
        </p:nvGraphicFramePr>
        <p:xfrm>
          <a:off x="785812" y="1101002"/>
          <a:ext cx="7572376" cy="47991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>
            <a:spLocks noGrp="1"/>
          </p:cNvSpPr>
          <p:nvPr>
            <p:ph type="title"/>
          </p:nvPr>
        </p:nvSpPr>
        <p:spPr>
          <a:xfrm>
            <a:off x="457200" y="-8211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Challenges</a:t>
            </a:r>
            <a:endParaRPr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86DFD4E-F6E6-4BA9-B065-BED8A3B8C803}"/>
              </a:ext>
            </a:extLst>
          </p:cNvPr>
          <p:cNvGrpSpPr/>
          <p:nvPr/>
        </p:nvGrpSpPr>
        <p:grpSpPr>
          <a:xfrm>
            <a:off x="1247478" y="5563650"/>
            <a:ext cx="6649044" cy="809949"/>
            <a:chOff x="0" y="0"/>
            <a:chExt cx="2626783" cy="319980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B7EA7274-97FC-4E79-9242-D4448CA3CC82}"/>
                </a:ext>
              </a:extLst>
            </p:cNvPr>
            <p:cNvSpPr/>
            <p:nvPr/>
          </p:nvSpPr>
          <p:spPr>
            <a:xfrm>
              <a:off x="0" y="0"/>
              <a:ext cx="2626783" cy="319980"/>
            </a:xfrm>
            <a:custGeom>
              <a:avLst/>
              <a:gdLst/>
              <a:ahLst/>
              <a:cxnLst/>
              <a:rect l="l" t="t" r="r" b="b"/>
              <a:pathLst>
                <a:path w="2626783" h="319980">
                  <a:moveTo>
                    <a:pt x="2423583" y="0"/>
                  </a:moveTo>
                  <a:cubicBezTo>
                    <a:pt x="2535807" y="0"/>
                    <a:pt x="2626783" y="71630"/>
                    <a:pt x="2626783" y="159990"/>
                  </a:cubicBezTo>
                  <a:cubicBezTo>
                    <a:pt x="2626783" y="248350"/>
                    <a:pt x="2535807" y="319980"/>
                    <a:pt x="2423583" y="319980"/>
                  </a:cubicBezTo>
                  <a:lnTo>
                    <a:pt x="203200" y="319980"/>
                  </a:lnTo>
                  <a:cubicBezTo>
                    <a:pt x="90976" y="319980"/>
                    <a:pt x="0" y="248350"/>
                    <a:pt x="0" y="159990"/>
                  </a:cubicBezTo>
                  <a:cubicBezTo>
                    <a:pt x="0" y="716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97CDFF"/>
            </a:solidFill>
          </p:spPr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62A73A-241D-45A3-9B5B-12A77DDE1E70}"/>
                </a:ext>
              </a:extLst>
            </p:cNvPr>
            <p:cNvSpPr txBox="1"/>
            <p:nvPr/>
          </p:nvSpPr>
          <p:spPr>
            <a:xfrm>
              <a:off x="0" y="19050"/>
              <a:ext cx="2626783" cy="300930"/>
            </a:xfrm>
            <a:prstGeom prst="rect">
              <a:avLst/>
            </a:prstGeom>
          </p:spPr>
          <p:txBody>
            <a:bodyPr lIns="47625" tIns="47625" rIns="47625" bIns="47625" rtlCol="0" anchor="ctr"/>
            <a:lstStyle/>
            <a:p>
              <a:pPr algn="ctr">
                <a:lnSpc>
                  <a:spcPts val="1861"/>
                </a:lnSpc>
              </a:pPr>
              <a:r>
                <a:rPr lang="en-US" sz="1723" b="1">
                  <a:solidFill>
                    <a:srgbClr val="050A30"/>
                  </a:solidFill>
                  <a:latin typeface="Lato Bold"/>
                  <a:ea typeface="Lato Bold"/>
                  <a:cs typeface="Lato Bold"/>
                  <a:sym typeface="Lato Bold"/>
                </a:rPr>
                <a:t>Adoption:</a:t>
              </a:r>
              <a:r>
                <a:rPr lang="en-US" sz="1723">
                  <a:solidFill>
                    <a:srgbClr val="050A30"/>
                  </a:solidFill>
                  <a:latin typeface="Lato"/>
                  <a:ea typeface="Lato"/>
                  <a:cs typeface="Lato"/>
                  <a:sym typeface="Lato"/>
                </a:rPr>
                <a:t> Connectivity gaps, low initial trust.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994E8A1-2C08-4823-8BFC-FA0FBA5A7B56}"/>
              </a:ext>
            </a:extLst>
          </p:cNvPr>
          <p:cNvGrpSpPr/>
          <p:nvPr/>
        </p:nvGrpSpPr>
        <p:grpSpPr>
          <a:xfrm>
            <a:off x="1247478" y="923763"/>
            <a:ext cx="6649044" cy="809949"/>
            <a:chOff x="0" y="0"/>
            <a:chExt cx="2626783" cy="319980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6EF0A133-18D9-4215-A712-B1F02444AD01}"/>
                </a:ext>
              </a:extLst>
            </p:cNvPr>
            <p:cNvSpPr/>
            <p:nvPr/>
          </p:nvSpPr>
          <p:spPr>
            <a:xfrm>
              <a:off x="0" y="0"/>
              <a:ext cx="2626783" cy="319980"/>
            </a:xfrm>
            <a:custGeom>
              <a:avLst/>
              <a:gdLst/>
              <a:ahLst/>
              <a:cxnLst/>
              <a:rect l="l" t="t" r="r" b="b"/>
              <a:pathLst>
                <a:path w="2626783" h="319980">
                  <a:moveTo>
                    <a:pt x="2423583" y="0"/>
                  </a:moveTo>
                  <a:cubicBezTo>
                    <a:pt x="2535807" y="0"/>
                    <a:pt x="2626783" y="71630"/>
                    <a:pt x="2626783" y="159990"/>
                  </a:cubicBezTo>
                  <a:cubicBezTo>
                    <a:pt x="2626783" y="248350"/>
                    <a:pt x="2535807" y="319980"/>
                    <a:pt x="2423583" y="319980"/>
                  </a:cubicBezTo>
                  <a:lnTo>
                    <a:pt x="203200" y="319980"/>
                  </a:lnTo>
                  <a:cubicBezTo>
                    <a:pt x="90976" y="319980"/>
                    <a:pt x="0" y="248350"/>
                    <a:pt x="0" y="159990"/>
                  </a:cubicBezTo>
                  <a:cubicBezTo>
                    <a:pt x="0" y="716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97CDFF"/>
            </a:solidFill>
          </p:spPr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A25A99D-FA77-45C4-B56D-D953357EBAC8}"/>
                </a:ext>
              </a:extLst>
            </p:cNvPr>
            <p:cNvSpPr txBox="1"/>
            <p:nvPr/>
          </p:nvSpPr>
          <p:spPr>
            <a:xfrm>
              <a:off x="0" y="19050"/>
              <a:ext cx="2626783" cy="300930"/>
            </a:xfrm>
            <a:prstGeom prst="rect">
              <a:avLst/>
            </a:prstGeom>
          </p:spPr>
          <p:txBody>
            <a:bodyPr lIns="47625" tIns="47625" rIns="47625" bIns="47625" rtlCol="0" anchor="ctr"/>
            <a:lstStyle/>
            <a:p>
              <a:pPr algn="ctr">
                <a:lnSpc>
                  <a:spcPts val="1861"/>
                </a:lnSpc>
              </a:pPr>
              <a:r>
                <a:rPr lang="en-US" sz="1723" b="1">
                  <a:solidFill>
                    <a:srgbClr val="050A30"/>
                  </a:solidFill>
                  <a:latin typeface="Lato Bold"/>
                  <a:ea typeface="Lato Bold"/>
                  <a:cs typeface="Lato Bold"/>
                  <a:sym typeface="Lato Bold"/>
                </a:rPr>
                <a:t>Data:</a:t>
              </a:r>
              <a:r>
                <a:rPr lang="en-US" sz="1723">
                  <a:solidFill>
                    <a:srgbClr val="050A30"/>
                  </a:solidFill>
                  <a:latin typeface="Lato"/>
                  <a:ea typeface="Lato"/>
                  <a:cs typeface="Lato"/>
                  <a:sym typeface="Lato"/>
                </a:rPr>
                <a:t> Limited legal datasets, need expert validation.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3CCE72-6455-4A11-B47A-9C5949B6EC28}"/>
              </a:ext>
            </a:extLst>
          </p:cNvPr>
          <p:cNvGrpSpPr/>
          <p:nvPr/>
        </p:nvGrpSpPr>
        <p:grpSpPr>
          <a:xfrm>
            <a:off x="1247478" y="1831940"/>
            <a:ext cx="6649044" cy="809949"/>
            <a:chOff x="0" y="0"/>
            <a:chExt cx="2626783" cy="319980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6FDBF16-1E90-4D3E-8590-350D69F68D46}"/>
                </a:ext>
              </a:extLst>
            </p:cNvPr>
            <p:cNvSpPr/>
            <p:nvPr/>
          </p:nvSpPr>
          <p:spPr>
            <a:xfrm>
              <a:off x="0" y="0"/>
              <a:ext cx="2626783" cy="319980"/>
            </a:xfrm>
            <a:custGeom>
              <a:avLst/>
              <a:gdLst/>
              <a:ahLst/>
              <a:cxnLst/>
              <a:rect l="l" t="t" r="r" b="b"/>
              <a:pathLst>
                <a:path w="2626783" h="319980">
                  <a:moveTo>
                    <a:pt x="2423583" y="0"/>
                  </a:moveTo>
                  <a:cubicBezTo>
                    <a:pt x="2535807" y="0"/>
                    <a:pt x="2626783" y="71630"/>
                    <a:pt x="2626783" y="159990"/>
                  </a:cubicBezTo>
                  <a:cubicBezTo>
                    <a:pt x="2626783" y="248350"/>
                    <a:pt x="2535807" y="319980"/>
                    <a:pt x="2423583" y="319980"/>
                  </a:cubicBezTo>
                  <a:lnTo>
                    <a:pt x="203200" y="319980"/>
                  </a:lnTo>
                  <a:cubicBezTo>
                    <a:pt x="90976" y="319980"/>
                    <a:pt x="0" y="248350"/>
                    <a:pt x="0" y="159990"/>
                  </a:cubicBezTo>
                  <a:cubicBezTo>
                    <a:pt x="0" y="716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97CDFF"/>
            </a:solidFill>
          </p:spPr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CD2A700-03CF-43AA-86E9-49500F419EF1}"/>
                </a:ext>
              </a:extLst>
            </p:cNvPr>
            <p:cNvSpPr txBox="1"/>
            <p:nvPr/>
          </p:nvSpPr>
          <p:spPr>
            <a:xfrm>
              <a:off x="0" y="19050"/>
              <a:ext cx="2626783" cy="300930"/>
            </a:xfrm>
            <a:prstGeom prst="rect">
              <a:avLst/>
            </a:prstGeom>
          </p:spPr>
          <p:txBody>
            <a:bodyPr lIns="47625" tIns="47625" rIns="47625" bIns="47625" rtlCol="0" anchor="ctr"/>
            <a:lstStyle/>
            <a:p>
              <a:pPr algn="ctr">
                <a:lnSpc>
                  <a:spcPts val="1861"/>
                </a:lnSpc>
              </a:pPr>
              <a:r>
                <a:rPr lang="en-US" sz="1723" b="1">
                  <a:solidFill>
                    <a:srgbClr val="050A30"/>
                  </a:solidFill>
                  <a:latin typeface="Lato Bold"/>
                  <a:ea typeface="Lato Bold"/>
                  <a:cs typeface="Lato Bold"/>
                  <a:sym typeface="Lato Bold"/>
                </a:rPr>
                <a:t>Language:</a:t>
              </a:r>
              <a:r>
                <a:rPr lang="en-US" sz="1723">
                  <a:solidFill>
                    <a:srgbClr val="050A30"/>
                  </a:solidFill>
                  <a:latin typeface="Lato"/>
                  <a:ea typeface="Lato"/>
                  <a:cs typeface="Lato"/>
                  <a:sym typeface="Lato"/>
                </a:rPr>
                <a:t> Urdu/Roman Urdu NLP immature, code-mixing issue.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9AC8507-B1CD-4071-B76F-5DE5DAD15C00}"/>
              </a:ext>
            </a:extLst>
          </p:cNvPr>
          <p:cNvGrpSpPr/>
          <p:nvPr/>
        </p:nvGrpSpPr>
        <p:grpSpPr>
          <a:xfrm>
            <a:off x="1247478" y="2740116"/>
            <a:ext cx="6649044" cy="809949"/>
            <a:chOff x="0" y="0"/>
            <a:chExt cx="2626783" cy="319980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436142D-134C-4DBC-B10B-8B6F427B0D29}"/>
                </a:ext>
              </a:extLst>
            </p:cNvPr>
            <p:cNvSpPr/>
            <p:nvPr/>
          </p:nvSpPr>
          <p:spPr>
            <a:xfrm>
              <a:off x="0" y="0"/>
              <a:ext cx="2626783" cy="319980"/>
            </a:xfrm>
            <a:custGeom>
              <a:avLst/>
              <a:gdLst/>
              <a:ahLst/>
              <a:cxnLst/>
              <a:rect l="l" t="t" r="r" b="b"/>
              <a:pathLst>
                <a:path w="2626783" h="319980">
                  <a:moveTo>
                    <a:pt x="2423583" y="0"/>
                  </a:moveTo>
                  <a:cubicBezTo>
                    <a:pt x="2535807" y="0"/>
                    <a:pt x="2626783" y="71630"/>
                    <a:pt x="2626783" y="159990"/>
                  </a:cubicBezTo>
                  <a:cubicBezTo>
                    <a:pt x="2626783" y="248350"/>
                    <a:pt x="2535807" y="319980"/>
                    <a:pt x="2423583" y="319980"/>
                  </a:cubicBezTo>
                  <a:lnTo>
                    <a:pt x="203200" y="319980"/>
                  </a:lnTo>
                  <a:cubicBezTo>
                    <a:pt x="90976" y="319980"/>
                    <a:pt x="0" y="248350"/>
                    <a:pt x="0" y="159990"/>
                  </a:cubicBezTo>
                  <a:cubicBezTo>
                    <a:pt x="0" y="716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97CDFF"/>
            </a:solidFill>
          </p:spPr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1EB9C49-4D2B-4914-840B-95DA34549B1C}"/>
                </a:ext>
              </a:extLst>
            </p:cNvPr>
            <p:cNvSpPr txBox="1"/>
            <p:nvPr/>
          </p:nvSpPr>
          <p:spPr>
            <a:xfrm>
              <a:off x="0" y="19050"/>
              <a:ext cx="2626783" cy="300930"/>
            </a:xfrm>
            <a:prstGeom prst="rect">
              <a:avLst/>
            </a:prstGeom>
          </p:spPr>
          <p:txBody>
            <a:bodyPr lIns="47625" tIns="47625" rIns="47625" bIns="47625" rtlCol="0" anchor="ctr"/>
            <a:lstStyle/>
            <a:p>
              <a:pPr algn="ctr">
                <a:lnSpc>
                  <a:spcPts val="1861"/>
                </a:lnSpc>
              </a:pPr>
              <a:r>
                <a:rPr lang="en-US" sz="1723" b="1">
                  <a:solidFill>
                    <a:srgbClr val="050A30"/>
                  </a:solidFill>
                  <a:latin typeface="Lato Bold"/>
                  <a:ea typeface="Lato Bold"/>
                  <a:cs typeface="Lato Bold"/>
                  <a:sym typeface="Lato Bold"/>
                </a:rPr>
                <a:t>Legal:</a:t>
              </a:r>
              <a:r>
                <a:rPr lang="en-US" sz="1723">
                  <a:solidFill>
                    <a:srgbClr val="050A30"/>
                  </a:solidFill>
                  <a:latin typeface="Lato"/>
                  <a:ea typeface="Lato"/>
                  <a:cs typeface="Lato"/>
                  <a:sym typeface="Lato"/>
                </a:rPr>
                <a:t> Cannot replace lawyers, only guidance.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96D986-08D5-49D9-9717-DCA9351555C9}"/>
              </a:ext>
            </a:extLst>
          </p:cNvPr>
          <p:cNvGrpSpPr/>
          <p:nvPr/>
        </p:nvGrpSpPr>
        <p:grpSpPr>
          <a:xfrm>
            <a:off x="1247478" y="3648292"/>
            <a:ext cx="6649044" cy="809949"/>
            <a:chOff x="0" y="0"/>
            <a:chExt cx="2626783" cy="31998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E9C6694-8459-4818-B037-782E7F412FB3}"/>
                </a:ext>
              </a:extLst>
            </p:cNvPr>
            <p:cNvSpPr/>
            <p:nvPr/>
          </p:nvSpPr>
          <p:spPr>
            <a:xfrm>
              <a:off x="0" y="0"/>
              <a:ext cx="2626783" cy="319980"/>
            </a:xfrm>
            <a:custGeom>
              <a:avLst/>
              <a:gdLst/>
              <a:ahLst/>
              <a:cxnLst/>
              <a:rect l="l" t="t" r="r" b="b"/>
              <a:pathLst>
                <a:path w="2626783" h="319980">
                  <a:moveTo>
                    <a:pt x="2423583" y="0"/>
                  </a:moveTo>
                  <a:cubicBezTo>
                    <a:pt x="2535807" y="0"/>
                    <a:pt x="2626783" y="71630"/>
                    <a:pt x="2626783" y="159990"/>
                  </a:cubicBezTo>
                  <a:cubicBezTo>
                    <a:pt x="2626783" y="248350"/>
                    <a:pt x="2535807" y="319980"/>
                    <a:pt x="2423583" y="319980"/>
                  </a:cubicBezTo>
                  <a:lnTo>
                    <a:pt x="203200" y="319980"/>
                  </a:lnTo>
                  <a:cubicBezTo>
                    <a:pt x="90976" y="319980"/>
                    <a:pt x="0" y="248350"/>
                    <a:pt x="0" y="159990"/>
                  </a:cubicBezTo>
                  <a:cubicBezTo>
                    <a:pt x="0" y="716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97CDFF"/>
            </a:solidFill>
          </p:spPr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7AFB382-69DE-4752-8124-C989C7F3F758}"/>
                </a:ext>
              </a:extLst>
            </p:cNvPr>
            <p:cNvSpPr txBox="1"/>
            <p:nvPr/>
          </p:nvSpPr>
          <p:spPr>
            <a:xfrm>
              <a:off x="0" y="19050"/>
              <a:ext cx="2626783" cy="300930"/>
            </a:xfrm>
            <a:prstGeom prst="rect">
              <a:avLst/>
            </a:prstGeom>
          </p:spPr>
          <p:txBody>
            <a:bodyPr lIns="47625" tIns="47625" rIns="47625" bIns="47625" rtlCol="0" anchor="ctr"/>
            <a:lstStyle/>
            <a:p>
              <a:pPr algn="ctr">
                <a:lnSpc>
                  <a:spcPts val="1861"/>
                </a:lnSpc>
              </a:pPr>
              <a:r>
                <a:rPr lang="en-US" sz="1723" b="1">
                  <a:solidFill>
                    <a:srgbClr val="050A30"/>
                  </a:solidFill>
                  <a:latin typeface="Lato Bold"/>
                  <a:ea typeface="Lato Bold"/>
                  <a:cs typeface="Lato Bold"/>
                  <a:sym typeface="Lato Bold"/>
                </a:rPr>
                <a:t>Technology:</a:t>
              </a:r>
              <a:r>
                <a:rPr lang="en-US" sz="1723">
                  <a:solidFill>
                    <a:srgbClr val="050A30"/>
                  </a:solidFill>
                  <a:latin typeface="Lato"/>
                  <a:ea typeface="Lato"/>
                  <a:cs typeface="Lato"/>
                  <a:sym typeface="Lato"/>
                </a:rPr>
                <a:t> OCR errors, high computational cost.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5BD9AB2-A6AE-4EC1-8D25-8E20E0B8DD23}"/>
              </a:ext>
            </a:extLst>
          </p:cNvPr>
          <p:cNvGrpSpPr/>
          <p:nvPr/>
        </p:nvGrpSpPr>
        <p:grpSpPr>
          <a:xfrm>
            <a:off x="1247478" y="4605972"/>
            <a:ext cx="6649044" cy="809949"/>
            <a:chOff x="0" y="0"/>
            <a:chExt cx="2626783" cy="319980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BA9EB56-B257-4ED6-96F4-7420F691B02A}"/>
                </a:ext>
              </a:extLst>
            </p:cNvPr>
            <p:cNvSpPr/>
            <p:nvPr/>
          </p:nvSpPr>
          <p:spPr>
            <a:xfrm>
              <a:off x="0" y="0"/>
              <a:ext cx="2626783" cy="319980"/>
            </a:xfrm>
            <a:custGeom>
              <a:avLst/>
              <a:gdLst/>
              <a:ahLst/>
              <a:cxnLst/>
              <a:rect l="l" t="t" r="r" b="b"/>
              <a:pathLst>
                <a:path w="2626783" h="319980">
                  <a:moveTo>
                    <a:pt x="2423583" y="0"/>
                  </a:moveTo>
                  <a:cubicBezTo>
                    <a:pt x="2535807" y="0"/>
                    <a:pt x="2626783" y="71630"/>
                    <a:pt x="2626783" y="159990"/>
                  </a:cubicBezTo>
                  <a:cubicBezTo>
                    <a:pt x="2626783" y="248350"/>
                    <a:pt x="2535807" y="319980"/>
                    <a:pt x="2423583" y="319980"/>
                  </a:cubicBezTo>
                  <a:lnTo>
                    <a:pt x="203200" y="319980"/>
                  </a:lnTo>
                  <a:cubicBezTo>
                    <a:pt x="90976" y="319980"/>
                    <a:pt x="0" y="248350"/>
                    <a:pt x="0" y="159990"/>
                  </a:cubicBezTo>
                  <a:cubicBezTo>
                    <a:pt x="0" y="716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97CDFF"/>
            </a:solidFill>
          </p:spPr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B943EDA-7944-42BA-A85B-A7FBC720CC0B}"/>
                </a:ext>
              </a:extLst>
            </p:cNvPr>
            <p:cNvSpPr txBox="1"/>
            <p:nvPr/>
          </p:nvSpPr>
          <p:spPr>
            <a:xfrm>
              <a:off x="0" y="19050"/>
              <a:ext cx="2626783" cy="300930"/>
            </a:xfrm>
            <a:prstGeom prst="rect">
              <a:avLst/>
            </a:prstGeom>
          </p:spPr>
          <p:txBody>
            <a:bodyPr lIns="47625" tIns="47625" rIns="47625" bIns="47625" rtlCol="0" anchor="ctr"/>
            <a:lstStyle/>
            <a:p>
              <a:pPr algn="ctr">
                <a:lnSpc>
                  <a:spcPts val="1861"/>
                </a:lnSpc>
              </a:pPr>
              <a:r>
                <a:rPr lang="en-US" sz="1723" b="1">
                  <a:solidFill>
                    <a:srgbClr val="050A30"/>
                  </a:solidFill>
                  <a:latin typeface="Lato Bold"/>
                  <a:ea typeface="Lato Bold"/>
                  <a:cs typeface="Lato Bold"/>
                  <a:sym typeface="Lato Bold"/>
                </a:rPr>
                <a:t>Ethics:</a:t>
              </a:r>
              <a:r>
                <a:rPr lang="en-US" sz="1723">
                  <a:solidFill>
                    <a:srgbClr val="050A30"/>
                  </a:solidFill>
                  <a:latin typeface="Lato"/>
                  <a:ea typeface="Lato"/>
                  <a:cs typeface="Lato"/>
                  <a:sym typeface="Lato"/>
                </a:rPr>
                <a:t> Privacy risks, misuse of auto-generated docs.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PROTOTYPE &amp; REPORT</a:t>
            </a:r>
            <a:endParaRPr/>
          </a:p>
        </p:txBody>
      </p:sp>
      <p:sp>
        <p:nvSpPr>
          <p:cNvPr id="201" name="Google Shape;201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>
            <a:spLocks noGrp="1"/>
          </p:cNvSpPr>
          <p:nvPr>
            <p:ph type="title"/>
          </p:nvPr>
        </p:nvSpPr>
        <p:spPr>
          <a:xfrm>
            <a:off x="5198324" y="116541"/>
            <a:ext cx="346037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Prototype</a:t>
            </a:r>
            <a:endParaRPr dirty="0"/>
          </a:p>
        </p:txBody>
      </p:sp>
      <p:pic>
        <p:nvPicPr>
          <p:cNvPr id="3078" name="Picture 20">
            <a:extLst>
              <a:ext uri="{FF2B5EF4-FFF2-40B4-BE49-F238E27FC236}">
                <a16:creationId xmlns:a16="http://schemas.microsoft.com/office/drawing/2014/main" id="{B7B4FC47-F59F-46AD-90CA-B514F3D35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657" y="457200"/>
            <a:ext cx="2389010" cy="5267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7">
            <a:extLst>
              <a:ext uri="{FF2B5EF4-FFF2-40B4-BE49-F238E27FC236}">
                <a16:creationId xmlns:a16="http://schemas.microsoft.com/office/drawing/2014/main" id="{375A62FB-9B81-494A-9160-F3F3940B9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5732E3FC-A627-42C6-AA9E-7284C8A1857A}"/>
              </a:ext>
            </a:extLst>
          </p:cNvPr>
          <p:cNvSpPr/>
          <p:nvPr/>
        </p:nvSpPr>
        <p:spPr>
          <a:xfrm>
            <a:off x="5040506" y="1779104"/>
            <a:ext cx="3942129" cy="2779443"/>
          </a:xfrm>
          <a:custGeom>
            <a:avLst/>
            <a:gdLst/>
            <a:ahLst/>
            <a:cxnLst/>
            <a:rect l="l" t="t" r="r" b="b"/>
            <a:pathLst>
              <a:path w="3942129" h="2779443">
                <a:moveTo>
                  <a:pt x="0" y="0"/>
                </a:moveTo>
                <a:lnTo>
                  <a:pt x="3942129" y="0"/>
                </a:lnTo>
                <a:lnTo>
                  <a:pt x="3942129" y="2779443"/>
                </a:lnTo>
                <a:lnTo>
                  <a:pt x="0" y="27794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1831"/>
            </a:stretch>
          </a:blipFill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8">
            <a:extLst>
              <a:ext uri="{FF2B5EF4-FFF2-40B4-BE49-F238E27FC236}">
                <a16:creationId xmlns:a16="http://schemas.microsoft.com/office/drawing/2014/main" id="{06AAA08F-54F3-448E-86A9-5E44158A6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311" y="242606"/>
            <a:ext cx="2838450" cy="621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6">
            <a:extLst>
              <a:ext uri="{FF2B5EF4-FFF2-40B4-BE49-F238E27FC236}">
                <a16:creationId xmlns:a16="http://schemas.microsoft.com/office/drawing/2014/main" id="{E1EBA65C-1B3E-42E2-A902-CFD35BB94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4238" y="232521"/>
            <a:ext cx="2876550" cy="625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2">
            <a:extLst>
              <a:ext uri="{FF2B5EF4-FFF2-40B4-BE49-F238E27FC236}">
                <a16:creationId xmlns:a16="http://schemas.microsoft.com/office/drawing/2014/main" id="{C83BE63D-E244-4A5C-8C99-48AA03ABD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89" y="242047"/>
            <a:ext cx="2857500" cy="623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70315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3">
            <a:extLst>
              <a:ext uri="{FF2B5EF4-FFF2-40B4-BE49-F238E27FC236}">
                <a16:creationId xmlns:a16="http://schemas.microsoft.com/office/drawing/2014/main" id="{59C6CE79-6A2A-4371-9303-4AB120B914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504" r="3548" b="302"/>
          <a:stretch/>
        </p:blipFill>
        <p:spPr bwMode="auto">
          <a:xfrm>
            <a:off x="5193367" y="280987"/>
            <a:ext cx="2847975" cy="625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2">
            <a:extLst>
              <a:ext uri="{FF2B5EF4-FFF2-40B4-BE49-F238E27FC236}">
                <a16:creationId xmlns:a16="http://schemas.microsoft.com/office/drawing/2014/main" id="{CE3DA6B5-8A6C-4160-8706-7F78A7EE8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5"/>
          <a:stretch>
            <a:fillRect/>
          </a:stretch>
        </p:blipFill>
        <p:spPr bwMode="auto">
          <a:xfrm>
            <a:off x="1541371" y="300037"/>
            <a:ext cx="2847975" cy="625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92451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768F-4AD4-48EE-9B9B-2BA8660C3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  <a:endParaRPr lang="en-P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F5430A-FFD9-41C2-808B-3C57B9146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35" y="1310680"/>
            <a:ext cx="7180729" cy="36930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231603-2D64-4312-B61F-6D55B4D3377E}"/>
              </a:ext>
            </a:extLst>
          </p:cNvPr>
          <p:cNvSpPr txBox="1"/>
          <p:nvPr/>
        </p:nvSpPr>
        <p:spPr>
          <a:xfrm>
            <a:off x="3254188" y="5106560"/>
            <a:ext cx="2848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Type of data used for fine tunning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778425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768F-4AD4-48EE-9B9B-2BA8660C3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231603-2D64-4312-B61F-6D55B4D3377E}"/>
              </a:ext>
            </a:extLst>
          </p:cNvPr>
          <p:cNvSpPr txBox="1"/>
          <p:nvPr/>
        </p:nvSpPr>
        <p:spPr>
          <a:xfrm>
            <a:off x="3902586" y="5493210"/>
            <a:ext cx="13388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Git Dashboard</a:t>
            </a:r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6CD1A3-AB93-465E-B0E6-CC3687CEB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823" y="1210901"/>
            <a:ext cx="6768354" cy="412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3281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768F-4AD4-48EE-9B9B-2BA8660C3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231603-2D64-4312-B61F-6D55B4D3377E}"/>
              </a:ext>
            </a:extLst>
          </p:cNvPr>
          <p:cNvSpPr txBox="1"/>
          <p:nvPr/>
        </p:nvSpPr>
        <p:spPr>
          <a:xfrm>
            <a:off x="3673359" y="5493210"/>
            <a:ext cx="1797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Repository Commits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51812D-2EC7-4A19-969F-11D5427A3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71" y="1308654"/>
            <a:ext cx="7980257" cy="393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95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Report</a:t>
            </a:r>
            <a:endParaRPr/>
          </a:p>
        </p:txBody>
      </p:sp>
      <p:sp>
        <p:nvSpPr>
          <p:cNvPr id="213" name="Google Shape;213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trike="sngStrike" dirty="0"/>
              <a:t>Chapter 1: Introduction</a:t>
            </a:r>
            <a:endParaRPr strike="sngStrike" dirty="0"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trike="sngStrike" dirty="0"/>
              <a:t>Chapter 2: Literature Review / Market Survey</a:t>
            </a:r>
            <a:endParaRPr strike="sngStrike" dirty="0"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trike="sngStrike" dirty="0"/>
              <a:t>Chapter 3: Requirements and Design</a:t>
            </a:r>
            <a:endParaRPr strike="sngStrike" dirty="0"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trike="sngStrike" dirty="0"/>
              <a:t>Chapter 4: Implementation </a:t>
            </a:r>
            <a:r>
              <a:rPr lang="en-US" dirty="0"/>
              <a:t>and Test Cases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Chapter 5: Experiment Results and Analysis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Chapter 6: Conclusion &amp; Future Direction</a:t>
            </a:r>
            <a:endParaRPr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>
            <a:extLst>
              <a:ext uri="{FF2B5EF4-FFF2-40B4-BE49-F238E27FC236}">
                <a16:creationId xmlns:a16="http://schemas.microsoft.com/office/drawing/2014/main" id="{D68B834C-4AE0-4938-9EFC-DAF3864644D3}"/>
              </a:ext>
            </a:extLst>
          </p:cNvPr>
          <p:cNvSpPr/>
          <p:nvPr/>
        </p:nvSpPr>
        <p:spPr>
          <a:xfrm>
            <a:off x="2926080" y="2727699"/>
            <a:ext cx="3901440" cy="1099497"/>
          </a:xfrm>
          <a:custGeom>
            <a:avLst/>
            <a:gdLst/>
            <a:ahLst/>
            <a:cxnLst/>
            <a:rect l="l" t="t" r="r" b="b"/>
            <a:pathLst>
              <a:path w="3901440" h="1099497">
                <a:moveTo>
                  <a:pt x="0" y="0"/>
                </a:moveTo>
                <a:lnTo>
                  <a:pt x="3901440" y="0"/>
                </a:lnTo>
                <a:lnTo>
                  <a:pt x="3901440" y="1099496"/>
                </a:lnTo>
                <a:lnTo>
                  <a:pt x="0" y="1099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999921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2267</Words>
  <Application>Microsoft Office PowerPoint</Application>
  <PresentationFormat>On-screen Show (4:3)</PresentationFormat>
  <Paragraphs>441</Paragraphs>
  <Slides>60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5" baseType="lpstr">
      <vt:lpstr>Aptos</vt:lpstr>
      <vt:lpstr>Arial</vt:lpstr>
      <vt:lpstr>Arial Bold</vt:lpstr>
      <vt:lpstr>Arial Bold Italics</vt:lpstr>
      <vt:lpstr>Calibri</vt:lpstr>
      <vt:lpstr>Courier New</vt:lpstr>
      <vt:lpstr>Lato</vt:lpstr>
      <vt:lpstr>Lato Bold</vt:lpstr>
      <vt:lpstr>Lato Bold Italics</vt:lpstr>
      <vt:lpstr>Poppins</vt:lpstr>
      <vt:lpstr>Poppins Bold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Table of Content</vt:lpstr>
      <vt:lpstr>INTRODUCTION AND BACKGROUND </vt:lpstr>
      <vt:lpstr>PowerPoint Presentation</vt:lpstr>
      <vt:lpstr>LITERATURE REVIEW &amp; Market Survey</vt:lpstr>
      <vt:lpstr>PowerPoint Presentation</vt:lpstr>
      <vt:lpstr>PowerPoint Presentation</vt:lpstr>
      <vt:lpstr>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PROGRESS REPORT SUMMARY</vt:lpstr>
      <vt:lpstr>PowerPoint Presentation</vt:lpstr>
      <vt:lpstr>Use Cases / User Stories</vt:lpstr>
      <vt:lpstr>Functional Requirements</vt:lpstr>
      <vt:lpstr>Non-Functional Requirements</vt:lpstr>
      <vt:lpstr>Design</vt:lpstr>
      <vt:lpstr>Architecture Diagram</vt:lpstr>
      <vt:lpstr>ER-Diagram</vt:lpstr>
      <vt:lpstr>Sequence Diagram</vt:lpstr>
      <vt:lpstr>Implementation</vt:lpstr>
      <vt:lpstr>Development Tools &amp; Technologies</vt:lpstr>
      <vt:lpstr>Best Practices / Coding Standards</vt:lpstr>
      <vt:lpstr>Libraries / Frameworks / Components</vt:lpstr>
      <vt:lpstr>User Interface (Current Status)</vt:lpstr>
      <vt:lpstr>Chatbot Implementation Overview</vt:lpstr>
      <vt:lpstr>Hardware Environment for Fine-Tuning</vt:lpstr>
      <vt:lpstr>Data Collection and Preparation</vt:lpstr>
      <vt:lpstr>Data Pre-processing</vt:lpstr>
      <vt:lpstr>Synthetic Data Generation</vt:lpstr>
      <vt:lpstr>Dataset Balancing and Size</vt:lpstr>
      <vt:lpstr>PowerPoint Presentation</vt:lpstr>
      <vt:lpstr>Fine-Tuning Process</vt:lpstr>
      <vt:lpstr>Conversation Management &amp; Response Generation</vt:lpstr>
      <vt:lpstr>Testing</vt:lpstr>
      <vt:lpstr>Training stability</vt:lpstr>
      <vt:lpstr>Training &amp; Evaluation Results</vt:lpstr>
      <vt:lpstr>ENDEAVOUR</vt:lpstr>
      <vt:lpstr>Team Roles</vt:lpstr>
      <vt:lpstr>NEXT STEPS</vt:lpstr>
      <vt:lpstr>PowerPoint Presentation</vt:lpstr>
      <vt:lpstr>PowerPoint Presentation</vt:lpstr>
      <vt:lpstr>PowerPoint Presentation</vt:lpstr>
      <vt:lpstr>Challenges</vt:lpstr>
      <vt:lpstr>PROTOTYPE &amp; REPORT</vt:lpstr>
      <vt:lpstr>Prototype</vt:lpstr>
      <vt:lpstr>PowerPoint Presentation</vt:lpstr>
      <vt:lpstr>PowerPoint Presentation</vt:lpstr>
      <vt:lpstr>Appendix</vt:lpstr>
      <vt:lpstr>Appendix</vt:lpstr>
      <vt:lpstr>Appendix</vt:lpstr>
      <vt:lpstr>Report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</dc:title>
  <dc:creator>Khan</dc:creator>
  <cp:lastModifiedBy>Haroon</cp:lastModifiedBy>
  <cp:revision>189</cp:revision>
  <dcterms:created xsi:type="dcterms:W3CDTF">2013-01-22T07:04:44Z</dcterms:created>
  <dcterms:modified xsi:type="dcterms:W3CDTF">2026-01-02T04:41:19Z</dcterms:modified>
</cp:coreProperties>
</file>